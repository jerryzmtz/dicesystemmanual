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6" r:id="rId3"/>
    <p:sldId id="259" r:id="rId4"/>
    <p:sldId id="270" r:id="rId5"/>
    <p:sldId id="271" r:id="rId6"/>
    <p:sldId id="272" r:id="rId7"/>
    <p:sldId id="264" r:id="rId8"/>
    <p:sldId id="265" r:id="rId9"/>
    <p:sldId id="260" r:id="rId10"/>
    <p:sldId id="267" r:id="rId11"/>
    <p:sldId id="269" r:id="rId12"/>
    <p:sldId id="268" r:id="rId13"/>
    <p:sldId id="278" r:id="rId14"/>
    <p:sldId id="279" r:id="rId15"/>
    <p:sldId id="280" r:id="rId16"/>
    <p:sldId id="281" r:id="rId17"/>
    <p:sldId id="282" r:id="rId18"/>
    <p:sldId id="283" r:id="rId19"/>
    <p:sldId id="277" r:id="rId20"/>
    <p:sldId id="276" r:id="rId21"/>
    <p:sldId id="275" r:id="rId22"/>
    <p:sldId id="266" r:id="rId23"/>
    <p:sldId id="274" r:id="rId24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0C93DDA-C7C7-4A8B-965F-B1716DF8EB80}">
          <p14:sldIdLst>
            <p14:sldId id="273"/>
            <p14:sldId id="256"/>
            <p14:sldId id="259"/>
            <p14:sldId id="270"/>
            <p14:sldId id="271"/>
            <p14:sldId id="272"/>
            <p14:sldId id="264"/>
            <p14:sldId id="265"/>
            <p14:sldId id="260"/>
            <p14:sldId id="267"/>
            <p14:sldId id="269"/>
            <p14:sldId id="268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OLD" id="{B768E524-63A1-4076-9066-D571E25970C5}">
          <p14:sldIdLst>
            <p14:sldId id="277"/>
            <p14:sldId id="276"/>
            <p14:sldId id="275"/>
            <p14:sldId id="266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101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0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F4F0-C514-34F3-6E14-29ED794EB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8A79A-22AC-DADE-3D8F-243868A8B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D44E0-7F5C-A741-EFE3-0E933009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773C1-2AC5-C164-E6B4-10C18F28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BF79A-405A-0D1F-B846-83873D05A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86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3CAEC-C6C2-C519-E417-4E4515C8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AB8D0-BAC9-F906-BD86-6551EA25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B433A-CF5A-4137-9B92-688630EE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BD772-367C-7072-D45C-C6C2A014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78B2E-B7E9-26EB-DEA6-49187833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15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B537-1F34-66C3-489D-3E3128E7E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A268A-802A-CBEC-4675-24FB6720C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2E6E1-C6AF-1CFD-851A-8AEA5FF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5804E-66C8-1E65-A978-29D4162C9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B52FB-A6EB-4A98-A620-DD15C2D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0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BBEA-A34C-9033-1445-B408FCEC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16BF2-1344-4C19-36F2-384FAD70B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B5076-23B7-EC7B-4CD5-BAA74E449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BCF66-C4CD-163F-3E8F-1B7C0E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C2217-3CDD-A511-777C-63BEEB03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92DFB-7674-BB8A-2B70-0D9D38B5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50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5C15D-6896-7C79-21B0-8359A3D3C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3F79E-66BF-9F67-C06C-C6562B527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B2780-F169-4B9F-FAFD-C76A379D6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DAD21F-D8E9-5A5A-A83D-3A5C51E32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1E0FD-1289-D76B-8500-30F054A6E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487E5-B6E4-1725-126A-191E0353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FB39B-58B9-5128-418B-C7830B15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EA01BE-51E6-E606-43B6-9A9D66E2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337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D8A52-DA06-55A0-67FD-AF4B589C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BE987-5DE5-083A-3EAB-E9E7D07F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B080B-648B-EB1E-00F2-300F4779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57004-3F17-C3B7-87CC-86B9973D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68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77BB9-EE26-6753-A5E5-1BD95AFC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0C84D-9499-3789-26EC-A1B0B8B5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D6257-1642-6984-1513-E66315BD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86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1CDD-5DAC-8EB7-CF68-EE7EFB58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7692C-23CA-A1A1-9094-89DD9DC98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7FE54-0115-5A60-CA3A-4F7505828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EAEAD-AEBF-4A32-BFAF-C5E2CFEF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B05C1-4DF9-DE0D-8640-4C313539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3B74F-C7F5-CAC4-05E3-3F9FDF97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7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665A5-56E6-079F-62D1-BC220D0A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EE4A6-5C73-B30B-9B93-78A1772EE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B0755-BCD9-EC5C-4946-FE444881E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93518-9215-D45D-AC0F-8C9CB616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35770-E4EB-8D88-E841-E9869C0B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285C3-54DD-D8AB-2667-B863DD6A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705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CDCF-AD19-A3CB-1A94-CB338EAA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B379A-23AD-879D-7CCE-CD3ECC863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BF7CE-5D59-2E35-235F-4A343D2A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BD08-22B2-6EC5-22F9-5889EA0A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9F897-C98C-2EDC-CC80-BFD044327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90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117CE1-3FCD-8FD9-AB43-6E75FBEB3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8B316-BDB2-213E-493E-9996F6786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0438F-4A84-E0DC-EB4D-837FF1BB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C5E38-C090-4E79-A620-8DBE660E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C2EDD-85A0-EB87-FDB6-9A26483A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88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E35931-A489-6B63-D695-C87ABE795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284A-FDBE-2EB7-EA3C-E05D4BE21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73ECC-79E1-424B-B289-158590D7B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F88BB-3104-43D8-8C6D-44C7D2AFFDC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A7E5E-8999-F150-1534-62E2E4882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7C5BC-9568-D5CC-935E-074920EEB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E5E29-BB2D-464A-8569-D10BE947FD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565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2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58E46-CDC1-7CD8-C80A-2D78EE46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EEACEB8-EA98-9B33-7500-B409C6F6B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76"/>
          <a:stretch>
            <a:fillRect/>
          </a:stretch>
        </p:blipFill>
        <p:spPr>
          <a:xfrm>
            <a:off x="6639360" y="4264612"/>
            <a:ext cx="2411245" cy="2510721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A7251755-7126-A4E1-DC95-B0A278563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18" y="706319"/>
            <a:ext cx="30765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①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点击此处查看脚本发布页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下载脚本本体与表格模板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F4EA8B-FCA7-DBCF-1B7F-952972610165}"/>
              </a:ext>
            </a:extLst>
          </p:cNvPr>
          <p:cNvGrpSpPr/>
          <p:nvPr/>
        </p:nvGrpSpPr>
        <p:grpSpPr>
          <a:xfrm>
            <a:off x="155212" y="3429000"/>
            <a:ext cx="2036218" cy="1879101"/>
            <a:chOff x="-107926" y="3849744"/>
            <a:chExt cx="2036218" cy="18791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60DE004-5A9F-EB76-F877-2CEC8764D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7846"/>
            <a:stretch>
              <a:fillRect/>
            </a:stretch>
          </p:blipFill>
          <p:spPr>
            <a:xfrm>
              <a:off x="-107926" y="3849744"/>
              <a:ext cx="2036218" cy="1879101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9DA1629-AC04-711D-21C7-F1AAC9F5B2FC}"/>
                </a:ext>
              </a:extLst>
            </p:cNvPr>
            <p:cNvSpPr/>
            <p:nvPr/>
          </p:nvSpPr>
          <p:spPr>
            <a:xfrm>
              <a:off x="340703" y="4789294"/>
              <a:ext cx="1138960" cy="265964"/>
            </a:xfrm>
            <a:prstGeom prst="round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Noto Sans SC" panose="020B0200000000000000" pitchFamily="50" charset="-128"/>
                <a:ea typeface="Noto Sans SC" panose="020B0200000000000000" pitchFamily="50" charset="-128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B5648FB-77EB-4A55-C0C2-2466E25C1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852" y="2771454"/>
            <a:ext cx="1797861" cy="358758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005364-A508-414B-7B6F-0CAC33CF0BA2}"/>
              </a:ext>
            </a:extLst>
          </p:cNvPr>
          <p:cNvSpPr/>
          <p:nvPr/>
        </p:nvSpPr>
        <p:spPr>
          <a:xfrm>
            <a:off x="2916890" y="5014428"/>
            <a:ext cx="569481" cy="228509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8B26F7F-D6A7-184E-F057-DC0023A87688}"/>
              </a:ext>
            </a:extLst>
          </p:cNvPr>
          <p:cNvCxnSpPr>
            <a:cxnSpLocks/>
            <a:stCxn id="30" idx="2"/>
            <a:endCxn id="5" idx="0"/>
          </p:cNvCxnSpPr>
          <p:nvPr/>
        </p:nvCxnSpPr>
        <p:spPr>
          <a:xfrm rot="5400000">
            <a:off x="320437" y="2975022"/>
            <a:ext cx="2246412" cy="540644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A06E2C73-9F82-9854-D071-ED32ADB5D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013" y="5522921"/>
            <a:ext cx="28999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②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打开数据管理界面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7FAB1B6-FBA8-DB9B-3ABD-5BFF6D48DF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64" y="168322"/>
            <a:ext cx="3470075" cy="3565146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97F172E-C5F3-8E5C-2FE4-038819AF1B1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1742801" y="4501532"/>
            <a:ext cx="1174089" cy="627151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66F8DB1-A361-0AA2-AF20-7FB81FB4F5F8}"/>
              </a:ext>
            </a:extLst>
          </p:cNvPr>
          <p:cNvSpPr/>
          <p:nvPr/>
        </p:nvSpPr>
        <p:spPr>
          <a:xfrm>
            <a:off x="6589475" y="2950238"/>
            <a:ext cx="1031304" cy="22075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C41812C-3683-C52C-BEC4-E9A1F9AB4676}"/>
              </a:ext>
            </a:extLst>
          </p:cNvPr>
          <p:cNvCxnSpPr>
            <a:cxnSpLocks/>
            <a:stCxn id="12" idx="3"/>
            <a:endCxn id="27" idx="1"/>
          </p:cNvCxnSpPr>
          <p:nvPr/>
        </p:nvCxnSpPr>
        <p:spPr>
          <a:xfrm flipV="1">
            <a:off x="3486371" y="3060617"/>
            <a:ext cx="3103104" cy="2068066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">
            <a:extLst>
              <a:ext uri="{FF2B5EF4-FFF2-40B4-BE49-F238E27FC236}">
                <a16:creationId xmlns:a16="http://schemas.microsoft.com/office/drawing/2014/main" id="{4462A857-8D83-3F33-04E3-480FB484E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902" y="2561448"/>
            <a:ext cx="30359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③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删除当前数据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D8544E2-88A8-CD5B-5444-92756B3320B0}"/>
              </a:ext>
            </a:extLst>
          </p:cNvPr>
          <p:cNvCxnSpPr>
            <a:cxnSpLocks/>
            <a:stCxn id="27" idx="0"/>
            <a:endCxn id="36" idx="1"/>
          </p:cNvCxnSpPr>
          <p:nvPr/>
        </p:nvCxnSpPr>
        <p:spPr>
          <a:xfrm rot="5400000" flipH="1" flipV="1">
            <a:off x="6559146" y="1853395"/>
            <a:ext cx="1642825" cy="550862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1DDC5F9-4C22-D578-01A1-16B0F2C45D85}"/>
              </a:ext>
            </a:extLst>
          </p:cNvPr>
          <p:cNvSpPr/>
          <p:nvPr/>
        </p:nvSpPr>
        <p:spPr>
          <a:xfrm>
            <a:off x="7655989" y="1183038"/>
            <a:ext cx="625423" cy="24875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E5296A98-125F-3E43-9CEF-E8EFACC1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803" y="860208"/>
            <a:ext cx="39716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1600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④</a:t>
            </a:r>
            <a:r>
              <a:rPr kumimoji="0" lang="zh-CN" altLang="en-US" sz="1600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导入表格模板</a:t>
            </a:r>
            <a:r>
              <a:rPr kumimoji="0" lang="en-US" altLang="zh-CN" sz="1600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.</a:t>
            </a:r>
            <a:r>
              <a:rPr kumimoji="0" lang="en-US" altLang="zh-CN" sz="1600" b="1" dirty="0" err="1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json</a:t>
            </a:r>
            <a:endParaRPr kumimoji="0" lang="en-US" altLang="zh-CN" sz="1600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F5505A3-43EC-97D7-660D-BFBA09798037}"/>
              </a:ext>
            </a:extLst>
          </p:cNvPr>
          <p:cNvSpPr/>
          <p:nvPr/>
        </p:nvSpPr>
        <p:spPr>
          <a:xfrm>
            <a:off x="8637842" y="1479537"/>
            <a:ext cx="826473" cy="26896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25DEEF5-B2AA-1732-CF49-EEC5A19F5720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8281412" y="1307413"/>
            <a:ext cx="356430" cy="306608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05AE622A-622E-CD67-9476-865C03B29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863" y="1821912"/>
            <a:ext cx="30359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⑤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点击模板覆盖最新数据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71E19B4-5EA0-AEBD-F37B-F7624E729F3F}"/>
              </a:ext>
            </a:extLst>
          </p:cNvPr>
          <p:cNvCxnSpPr>
            <a:cxnSpLocks/>
            <a:stCxn id="39" idx="3"/>
            <a:endCxn id="58" idx="3"/>
          </p:cNvCxnSpPr>
          <p:nvPr/>
        </p:nvCxnSpPr>
        <p:spPr>
          <a:xfrm flipH="1">
            <a:off x="8390726" y="1614021"/>
            <a:ext cx="1073589" cy="3351664"/>
          </a:xfrm>
          <a:prstGeom prst="bentConnector3">
            <a:avLst>
              <a:gd name="adj1" fmla="val -21293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0A15297-46C2-1F72-E5D5-69B1C7FD0FB6}"/>
              </a:ext>
            </a:extLst>
          </p:cNvPr>
          <p:cNvSpPr/>
          <p:nvPr/>
        </p:nvSpPr>
        <p:spPr>
          <a:xfrm>
            <a:off x="7840160" y="4845892"/>
            <a:ext cx="550566" cy="23958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60" name="Rectangle 1">
            <a:extLst>
              <a:ext uri="{FF2B5EF4-FFF2-40B4-BE49-F238E27FC236}">
                <a16:creationId xmlns:a16="http://schemas.microsoft.com/office/drawing/2014/main" id="{88301393-BB17-AD4C-C7CB-A9D9540A6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409" y="3913456"/>
            <a:ext cx="35545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⑥酒馆助手中导入骰子系统</a:t>
            </a:r>
            <a:r>
              <a:rPr kumimoji="0" lang="en-US" altLang="zh-CN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.json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C1828B3A-7237-B47B-D806-1903CB2063BC}"/>
              </a:ext>
            </a:extLst>
          </p:cNvPr>
          <p:cNvCxnSpPr>
            <a:cxnSpLocks/>
            <a:stCxn id="58" idx="2"/>
            <a:endCxn id="64" idx="1"/>
          </p:cNvCxnSpPr>
          <p:nvPr/>
        </p:nvCxnSpPr>
        <p:spPr>
          <a:xfrm rot="16200000" flipH="1">
            <a:off x="8769562" y="4431358"/>
            <a:ext cx="619161" cy="1927398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1">
            <a:extLst>
              <a:ext uri="{FF2B5EF4-FFF2-40B4-BE49-F238E27FC236}">
                <a16:creationId xmlns:a16="http://schemas.microsoft.com/office/drawing/2014/main" id="{A98DBBB7-69A1-1DCB-4351-60FDEA389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2841" y="5519972"/>
            <a:ext cx="19871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⑦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刷新酒馆页面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00E92D-11B8-67B3-1E88-DCC0B454F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18" y="1374870"/>
            <a:ext cx="3196494" cy="7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69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FB2C1E-A2B1-E885-25C5-CAF340EE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791" y="639234"/>
            <a:ext cx="7040431" cy="522393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9EA88A2-1FDE-D6C0-9EDB-BB741070B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61" y="1881817"/>
            <a:ext cx="188176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主角核心面板</a:t>
            </a:r>
            <a:endParaRPr kumimoji="0" lang="en-US" altLang="ja-JP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主角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状态、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资源、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六维基础属性及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特别属性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。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11386D-8039-8D0E-0540-0B3465E02398}"/>
              </a:ext>
            </a:extLst>
          </p:cNvPr>
          <p:cNvCxnSpPr>
            <a:cxnSpLocks/>
          </p:cNvCxnSpPr>
          <p:nvPr/>
        </p:nvCxnSpPr>
        <p:spPr>
          <a:xfrm flipV="1">
            <a:off x="2199463" y="2242320"/>
            <a:ext cx="504839" cy="1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B1D42B3-7072-03E0-9412-7C9877E4CF89}"/>
              </a:ext>
            </a:extLst>
          </p:cNvPr>
          <p:cNvCxnSpPr>
            <a:cxnSpLocks/>
            <a:endCxn id="15" idx="0"/>
          </p:cNvCxnSpPr>
          <p:nvPr/>
        </p:nvCxnSpPr>
        <p:spPr>
          <a:xfrm rot="10800000" flipV="1">
            <a:off x="1022556" y="3293023"/>
            <a:ext cx="1695245" cy="537482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">
            <a:extLst>
              <a:ext uri="{FF2B5EF4-FFF2-40B4-BE49-F238E27FC236}">
                <a16:creationId xmlns:a16="http://schemas.microsoft.com/office/drawing/2014/main" id="{4588FA56-B514-586E-303B-B60563ECE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74" y="3830505"/>
            <a:ext cx="18817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主角技能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主角的技能，技能熟练度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88A17F-023D-ADF6-E981-03DA9490DBFB}"/>
              </a:ext>
            </a:extLst>
          </p:cNvPr>
          <p:cNvSpPr/>
          <p:nvPr/>
        </p:nvSpPr>
        <p:spPr>
          <a:xfrm>
            <a:off x="2563945" y="4630724"/>
            <a:ext cx="7018593" cy="120178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F7663D00-BCD8-6B8E-8014-5ECDDD724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611" y="6016153"/>
            <a:ext cx="63332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全局导航栏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系统功能切换中枢，点击跳转至掷骰、审核、收藏夹、地图、人物等详细页面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4430DE-69CA-73AA-504A-ABAE44558EEA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6073241" y="5832510"/>
            <a:ext cx="1" cy="183643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">
            <a:extLst>
              <a:ext uri="{FF2B5EF4-FFF2-40B4-BE49-F238E27FC236}">
                <a16:creationId xmlns:a16="http://schemas.microsoft.com/office/drawing/2014/main" id="{8ACE3371-1226-C0E3-E65B-DD736A324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593" y="96123"/>
            <a:ext cx="18817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当前视图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显示目前的模块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DA8E717-818C-84A3-C81B-5D83B811878A}"/>
              </a:ext>
            </a:extLst>
          </p:cNvPr>
          <p:cNvCxnSpPr>
            <a:cxnSpLocks/>
            <a:endCxn id="26" idx="2"/>
          </p:cNvCxnSpPr>
          <p:nvPr/>
        </p:nvCxnSpPr>
        <p:spPr>
          <a:xfrm rot="10800000">
            <a:off x="1901474" y="680899"/>
            <a:ext cx="570794" cy="219857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">
            <a:extLst>
              <a:ext uri="{FF2B5EF4-FFF2-40B4-BE49-F238E27FC236}">
                <a16:creationId xmlns:a16="http://schemas.microsoft.com/office/drawing/2014/main" id="{8A1D913A-39F4-4BDF-07C7-5216D0291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2298" y="15776"/>
            <a:ext cx="18817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区域地图信息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显示当前地图中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可互动的地点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99DE5C47-5581-2744-A4AE-10E4B839B1BE}"/>
              </a:ext>
            </a:extLst>
          </p:cNvPr>
          <p:cNvCxnSpPr>
            <a:cxnSpLocks/>
            <a:endCxn id="32" idx="1"/>
          </p:cNvCxnSpPr>
          <p:nvPr/>
        </p:nvCxnSpPr>
        <p:spPr>
          <a:xfrm rot="5400000" flipH="1" flipV="1">
            <a:off x="5004893" y="719596"/>
            <a:ext cx="981114" cy="373695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">
            <a:extLst>
              <a:ext uri="{FF2B5EF4-FFF2-40B4-BE49-F238E27FC236}">
                <a16:creationId xmlns:a16="http://schemas.microsoft.com/office/drawing/2014/main" id="{1181A8BB-6E19-DFC6-D038-215E193CF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5083" y="1712731"/>
            <a:ext cx="18817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持有物品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背包内的道具及数量概览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128B900-4364-1319-9A32-B10D338805E0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9388970" y="2112841"/>
            <a:ext cx="406113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">
            <a:extLst>
              <a:ext uri="{FF2B5EF4-FFF2-40B4-BE49-F238E27FC236}">
                <a16:creationId xmlns:a16="http://schemas.microsoft.com/office/drawing/2014/main" id="{97E54909-E9C7-D974-93FD-7E1FA220A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7745" y="2628781"/>
            <a:ext cx="18817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当前装备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显示主角目前穿戴的装备及品质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771C882-D0CE-5A2E-205C-E4923A01DFF8}"/>
              </a:ext>
            </a:extLst>
          </p:cNvPr>
          <p:cNvCxnSpPr>
            <a:cxnSpLocks/>
          </p:cNvCxnSpPr>
          <p:nvPr/>
        </p:nvCxnSpPr>
        <p:spPr>
          <a:xfrm>
            <a:off x="9281633" y="2897480"/>
            <a:ext cx="406112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C97454E-7D49-5442-A6F4-C833A2D69985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8348125" y="3851385"/>
            <a:ext cx="1252097" cy="404676"/>
          </a:xfrm>
          <a:prstGeom prst="bentConnector3">
            <a:avLst>
              <a:gd name="adj1" fmla="val 444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1">
            <a:extLst>
              <a:ext uri="{FF2B5EF4-FFF2-40B4-BE49-F238E27FC236}">
                <a16:creationId xmlns:a16="http://schemas.microsoft.com/office/drawing/2014/main" id="{1D867687-7949-4B6C-469E-6375DF526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222" y="3963673"/>
            <a:ext cx="20687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进行中的任务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当前任务与进度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F61335-3666-C34F-3B86-18BEEF9DD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639" y="3000635"/>
            <a:ext cx="18817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主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要角色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高亮显示在场角色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1920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E934E-5929-AC0C-3EBF-B0AEBAC8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684A50B-08C3-EB05-AF90-47B77D47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791" y="1124654"/>
            <a:ext cx="7040431" cy="5223935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BBD626A1-73B6-9559-0030-33D96AC4E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24" y="2573766"/>
            <a:ext cx="188176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投骰界面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入口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点击骰子图标发起普通检定，系统自动读取检定名称与数值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909BE8B8-2391-F003-00D1-9BA74F775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79" y="217962"/>
            <a:ext cx="289991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移动快捷指令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点击图标快速发送</a:t>
            </a:r>
            <a:r>
              <a:rPr kumimoji="0" lang="en-US" altLang="zh-CN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`&lt;user&gt;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前往</a:t>
            </a:r>
            <a:r>
              <a:rPr kumimoji="0" lang="en-US" altLang="zh-CN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LIVE [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地点</a:t>
            </a:r>
            <a:r>
              <a:rPr kumimoji="0" lang="en-US" altLang="zh-CN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]`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命令到输入栏。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E58B766-03EE-A919-84E8-21A68236BA81}"/>
              </a:ext>
            </a:extLst>
          </p:cNvPr>
          <p:cNvCxnSpPr>
            <a:cxnSpLocks/>
            <a:stCxn id="83" idx="1"/>
            <a:endCxn id="85" idx="3"/>
          </p:cNvCxnSpPr>
          <p:nvPr/>
        </p:nvCxnSpPr>
        <p:spPr>
          <a:xfrm flipH="1" flipV="1">
            <a:off x="9310294" y="2563961"/>
            <a:ext cx="321915" cy="157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7C0619-3EAC-7CD3-A763-0BEE66D26D9D}"/>
              </a:ext>
            </a:extLst>
          </p:cNvPr>
          <p:cNvSpPr/>
          <p:nvPr/>
        </p:nvSpPr>
        <p:spPr>
          <a:xfrm>
            <a:off x="3185652" y="2521429"/>
            <a:ext cx="184081" cy="796091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35B2B2B-D71B-5B57-CE9F-A8CF93BC85F0}"/>
              </a:ext>
            </a:extLst>
          </p:cNvPr>
          <p:cNvSpPr/>
          <p:nvPr/>
        </p:nvSpPr>
        <p:spPr>
          <a:xfrm>
            <a:off x="5772381" y="2146954"/>
            <a:ext cx="184081" cy="108445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71" name="Rectangle 1">
            <a:extLst>
              <a:ext uri="{FF2B5EF4-FFF2-40B4-BE49-F238E27FC236}">
                <a16:creationId xmlns:a16="http://schemas.microsoft.com/office/drawing/2014/main" id="{43283C2F-F81B-AB08-BF91-2970A929A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6341" y="4091288"/>
            <a:ext cx="18817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对抗检定快速入口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点击图标快速发起与该角色的对抗或交互检定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221E9A-5965-327D-155F-14B3A60E0290}"/>
              </a:ext>
            </a:extLst>
          </p:cNvPr>
          <p:cNvCxnSpPr>
            <a:cxnSpLocks/>
          </p:cNvCxnSpPr>
          <p:nvPr/>
        </p:nvCxnSpPr>
        <p:spPr>
          <a:xfrm flipH="1">
            <a:off x="4640684" y="4445231"/>
            <a:ext cx="1131697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1">
            <a:extLst>
              <a:ext uri="{FF2B5EF4-FFF2-40B4-BE49-F238E27FC236}">
                <a16:creationId xmlns:a16="http://schemas.microsoft.com/office/drawing/2014/main" id="{6D953901-A57A-675D-9FF4-DF0CC641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2209" y="2211588"/>
            <a:ext cx="245263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物品使用快捷指令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点击图标快速发送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`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&lt;user&gt;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使用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 [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物品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]`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命令到输入栏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1942D60-57A9-250F-1673-08DBE0F1AD86}"/>
              </a:ext>
            </a:extLst>
          </p:cNvPr>
          <p:cNvSpPr/>
          <p:nvPr/>
        </p:nvSpPr>
        <p:spPr>
          <a:xfrm>
            <a:off x="9092072" y="2144948"/>
            <a:ext cx="218222" cy="83802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1A6B48C-D080-83BC-B282-13F899C16CF6}"/>
              </a:ext>
            </a:extLst>
          </p:cNvPr>
          <p:cNvSpPr/>
          <p:nvPr/>
        </p:nvSpPr>
        <p:spPr>
          <a:xfrm>
            <a:off x="6660913" y="3269184"/>
            <a:ext cx="537011" cy="191487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ABC44629-B8BC-727B-E2BA-C19B346C7962}"/>
              </a:ext>
            </a:extLst>
          </p:cNvPr>
          <p:cNvCxnSpPr>
            <a:cxnSpLocks/>
            <a:stCxn id="96" idx="3"/>
            <a:endCxn id="102" idx="1"/>
          </p:cNvCxnSpPr>
          <p:nvPr/>
        </p:nvCxnSpPr>
        <p:spPr>
          <a:xfrm>
            <a:off x="7197924" y="3364928"/>
            <a:ext cx="2555357" cy="475625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">
            <a:extLst>
              <a:ext uri="{FF2B5EF4-FFF2-40B4-BE49-F238E27FC236}">
                <a16:creationId xmlns:a16="http://schemas.microsoft.com/office/drawing/2014/main" id="{873F35C7-F43D-B276-1391-5A73D08A9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281" y="3486610"/>
            <a:ext cx="18817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关系图与管理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打开人物关系图及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角色头像管理界面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0411310C-5433-3EA6-E0F7-F6F91536A7ED}"/>
              </a:ext>
            </a:extLst>
          </p:cNvPr>
          <p:cNvSpPr/>
          <p:nvPr/>
        </p:nvSpPr>
        <p:spPr>
          <a:xfrm>
            <a:off x="7807562" y="5936913"/>
            <a:ext cx="1707502" cy="39243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11" name="Rectangle 1">
            <a:extLst>
              <a:ext uri="{FF2B5EF4-FFF2-40B4-BE49-F238E27FC236}">
                <a16:creationId xmlns:a16="http://schemas.microsoft.com/office/drawing/2014/main" id="{38E208BF-875F-D352-0404-9BE574912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5594" y="5686068"/>
            <a:ext cx="2346406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前端功能快捷键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①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打开数据库主页</a:t>
            </a:r>
            <a:r>
              <a:rPr kumimoji="0" lang="ja-JP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②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打开数据库编辑器</a:t>
            </a:r>
            <a:r>
              <a:rPr kumimoji="0" lang="ja-JP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③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收起面板</a:t>
            </a:r>
            <a:r>
              <a:rPr kumimoji="0" lang="ja-JP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④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立即触发手动填表</a:t>
            </a:r>
            <a:r>
              <a:rPr kumimoji="0" lang="ja-JP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⑤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骰子前端设置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16" name="Rectangle 1">
            <a:extLst>
              <a:ext uri="{FF2B5EF4-FFF2-40B4-BE49-F238E27FC236}">
                <a16:creationId xmlns:a16="http://schemas.microsoft.com/office/drawing/2014/main" id="{CF16DE83-2972-D77B-2666-17AD66941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1296" y="397693"/>
            <a:ext cx="28999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调节面板高度</a:t>
            </a:r>
            <a:endParaRPr kumimoji="0" lang="en-US" altLang="zh-CN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上下拖拽以调整面板高度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F948F8AB-53F5-A3D5-1B88-526AFE0CE015}"/>
              </a:ext>
            </a:extLst>
          </p:cNvPr>
          <p:cNvSpPr/>
          <p:nvPr/>
        </p:nvSpPr>
        <p:spPr>
          <a:xfrm>
            <a:off x="8950826" y="1178684"/>
            <a:ext cx="180474" cy="31378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F214E97-AE1B-5DEA-1CF2-616E1C29238D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9041063" y="993097"/>
            <a:ext cx="0" cy="185587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75E94C9-BC30-D73C-7CF7-AE12479F15F9}"/>
              </a:ext>
            </a:extLst>
          </p:cNvPr>
          <p:cNvCxnSpPr>
            <a:cxnSpLocks/>
          </p:cNvCxnSpPr>
          <p:nvPr/>
        </p:nvCxnSpPr>
        <p:spPr>
          <a:xfrm flipV="1">
            <a:off x="2294755" y="2982974"/>
            <a:ext cx="890897" cy="5584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DC9C8AB-66CD-A790-B77D-D4E3B92A3F37}"/>
              </a:ext>
            </a:extLst>
          </p:cNvPr>
          <p:cNvSpPr/>
          <p:nvPr/>
        </p:nvSpPr>
        <p:spPr>
          <a:xfrm>
            <a:off x="5774078" y="3506347"/>
            <a:ext cx="214422" cy="126319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A4F7F99-5C13-3449-A862-23C90946F669}"/>
              </a:ext>
            </a:extLst>
          </p:cNvPr>
          <p:cNvCxnSpPr>
            <a:cxnSpLocks/>
            <a:stCxn id="32" idx="2"/>
            <a:endCxn id="49" idx="0"/>
          </p:cNvCxnSpPr>
          <p:nvPr/>
        </p:nvCxnSpPr>
        <p:spPr>
          <a:xfrm rot="16200000" flipH="1">
            <a:off x="4583492" y="866023"/>
            <a:ext cx="1128773" cy="1433088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DD683E2-9514-11EF-02CE-7689792926FD}"/>
              </a:ext>
            </a:extLst>
          </p:cNvPr>
          <p:cNvSpPr/>
          <p:nvPr/>
        </p:nvSpPr>
        <p:spPr>
          <a:xfrm>
            <a:off x="6888924" y="1953461"/>
            <a:ext cx="248165" cy="212731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489E0AAF-B7B0-654B-0000-CE81748D5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388" y="1358173"/>
            <a:ext cx="28999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地图入口</a:t>
            </a:r>
            <a:endParaRPr kumimoji="0" lang="en-US" altLang="zh-CN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8F9B493-1326-DF29-A5E6-DF87E4D88028}"/>
              </a:ext>
            </a:extLst>
          </p:cNvPr>
          <p:cNvCxnSpPr>
            <a:cxnSpLocks/>
          </p:cNvCxnSpPr>
          <p:nvPr/>
        </p:nvCxnSpPr>
        <p:spPr>
          <a:xfrm>
            <a:off x="7022555" y="1730938"/>
            <a:ext cx="0" cy="185587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FB01777-CECB-0570-A4F3-B3153DF518F0}"/>
              </a:ext>
            </a:extLst>
          </p:cNvPr>
          <p:cNvCxnSpPr>
            <a:cxnSpLocks/>
          </p:cNvCxnSpPr>
          <p:nvPr/>
        </p:nvCxnSpPr>
        <p:spPr>
          <a:xfrm flipH="1" flipV="1">
            <a:off x="9523679" y="6132344"/>
            <a:ext cx="321915" cy="157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44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0A54-881F-3A7D-411D-4995FA65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A4BEDABD-D605-3ABF-3329-0ABFBE6D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495" y="1135922"/>
            <a:ext cx="2719576" cy="41719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0E6DBD-2550-A920-815B-6E3C1C3A1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722" y="1134217"/>
            <a:ext cx="2898582" cy="475509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48CF81-B7FF-6886-B78E-91BF7200A83E}"/>
              </a:ext>
            </a:extLst>
          </p:cNvPr>
          <p:cNvSpPr/>
          <p:nvPr/>
        </p:nvSpPr>
        <p:spPr>
          <a:xfrm>
            <a:off x="3152428" y="1729261"/>
            <a:ext cx="1984333" cy="245963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AC774D-E150-9438-247C-9F9DD82FEE97}"/>
              </a:ext>
            </a:extLst>
          </p:cNvPr>
          <p:cNvSpPr/>
          <p:nvPr/>
        </p:nvSpPr>
        <p:spPr>
          <a:xfrm>
            <a:off x="5884681" y="1617881"/>
            <a:ext cx="1887565" cy="28812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08F829BA-292B-21EA-6ADA-C82374B71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167" y="286502"/>
            <a:ext cx="18817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骰子面数设定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点击骰子图标或者手动输入以设定骰子数量与面数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E9A1BB-6AC6-B066-5E74-3E1BF01D6D37}"/>
              </a:ext>
            </a:extLst>
          </p:cNvPr>
          <p:cNvCxnSpPr>
            <a:cxnSpLocks/>
          </p:cNvCxnSpPr>
          <p:nvPr/>
        </p:nvCxnSpPr>
        <p:spPr>
          <a:xfrm flipH="1">
            <a:off x="5147733" y="1789289"/>
            <a:ext cx="750711" cy="5644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E14457C-9F86-F058-A6F4-55F387D7EF3D}"/>
              </a:ext>
            </a:extLst>
          </p:cNvPr>
          <p:cNvSpPr/>
          <p:nvPr/>
        </p:nvSpPr>
        <p:spPr>
          <a:xfrm>
            <a:off x="3215928" y="2239032"/>
            <a:ext cx="2382266" cy="423593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6" name="Rectangle 1">
            <a:extLst>
              <a:ext uri="{FF2B5EF4-FFF2-40B4-BE49-F238E27FC236}">
                <a16:creationId xmlns:a16="http://schemas.microsoft.com/office/drawing/2014/main" id="{AADA5A0F-5E3D-AF60-DE8A-240CCA8F3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88" y="1148464"/>
            <a:ext cx="188176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检定参与者设定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点击图标或手动输入检定者，或对抗检定参与者的姓名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5EDE7BB-0043-04FA-28EA-4EAC0DA34C56}"/>
              </a:ext>
            </a:extLst>
          </p:cNvPr>
          <p:cNvSpPr/>
          <p:nvPr/>
        </p:nvSpPr>
        <p:spPr>
          <a:xfrm>
            <a:off x="3309978" y="2861465"/>
            <a:ext cx="1084739" cy="2308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23A6ECF-92F8-9B3F-6F9C-C53530CF57B5}"/>
              </a:ext>
            </a:extLst>
          </p:cNvPr>
          <p:cNvCxnSpPr>
            <a:cxnSpLocks/>
            <a:stCxn id="47" idx="1"/>
          </p:cNvCxnSpPr>
          <p:nvPr/>
        </p:nvCxnSpPr>
        <p:spPr>
          <a:xfrm rot="10800000">
            <a:off x="3060442" y="2450829"/>
            <a:ext cx="249537" cy="526051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">
            <a:extLst>
              <a:ext uri="{FF2B5EF4-FFF2-40B4-BE49-F238E27FC236}">
                <a16:creationId xmlns:a16="http://schemas.microsoft.com/office/drawing/2014/main" id="{6A7330FB-D095-A70D-D2DE-7A759BACD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62" y="4439363"/>
            <a:ext cx="294067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设置成功标准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在下拉框中选择成功标准。默认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COC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规则中骰子的数字越小，这次检定越成功。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DND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规则中，骰子数字越大越成功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8D45B11-F0C8-A15B-EBCA-BC5403C2F71D}"/>
              </a:ext>
            </a:extLst>
          </p:cNvPr>
          <p:cNvCxnSpPr>
            <a:cxnSpLocks/>
          </p:cNvCxnSpPr>
          <p:nvPr/>
        </p:nvCxnSpPr>
        <p:spPr>
          <a:xfrm flipV="1">
            <a:off x="5707057" y="993136"/>
            <a:ext cx="0" cy="789375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F3C4B247-3EB6-8F30-851D-2F50D136B309}"/>
              </a:ext>
            </a:extLst>
          </p:cNvPr>
          <p:cNvCxnSpPr>
            <a:cxnSpLocks/>
            <a:stCxn id="36" idx="1"/>
            <a:endCxn id="46" idx="2"/>
          </p:cNvCxnSpPr>
          <p:nvPr/>
        </p:nvCxnSpPr>
        <p:spPr>
          <a:xfrm rot="10800000">
            <a:off x="1158570" y="2041017"/>
            <a:ext cx="2057359" cy="409813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545B5DCF-966A-9015-DFF6-0B45A2341483}"/>
              </a:ext>
            </a:extLst>
          </p:cNvPr>
          <p:cNvCxnSpPr>
            <a:cxnSpLocks/>
          </p:cNvCxnSpPr>
          <p:nvPr/>
        </p:nvCxnSpPr>
        <p:spPr>
          <a:xfrm flipV="1">
            <a:off x="3508143" y="909734"/>
            <a:ext cx="0" cy="349898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">
            <a:extLst>
              <a:ext uri="{FF2B5EF4-FFF2-40B4-BE49-F238E27FC236}">
                <a16:creationId xmlns:a16="http://schemas.microsoft.com/office/drawing/2014/main" id="{55077D83-4610-56E2-5633-709D5BDF3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242" y="40134"/>
            <a:ext cx="188176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普通检定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普通检定由单一角色发起，他的投骰结果需要小于他的属性值以获得检定成功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E1A3B604-9BC1-CADE-B8A2-22FAD92F2233}"/>
              </a:ext>
            </a:extLst>
          </p:cNvPr>
          <p:cNvCxnSpPr>
            <a:cxnSpLocks/>
            <a:endCxn id="172" idx="1"/>
          </p:cNvCxnSpPr>
          <p:nvPr/>
        </p:nvCxnSpPr>
        <p:spPr>
          <a:xfrm flipV="1">
            <a:off x="6805394" y="978445"/>
            <a:ext cx="2270336" cy="366603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">
            <a:extLst>
              <a:ext uri="{FF2B5EF4-FFF2-40B4-BE49-F238E27FC236}">
                <a16:creationId xmlns:a16="http://schemas.microsoft.com/office/drawing/2014/main" id="{8DA2B922-0304-3AF2-C4D3-1B315DBA0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0" y="232087"/>
            <a:ext cx="2898582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对抗检定</a:t>
            </a:r>
            <a:endParaRPr kumimoji="0" lang="en-US" altLang="zh-CN" sz="14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当两个角色发生冲突时，进行对抗检定。你不需要规定此次对抗的难度等级，达成更高难度等级成功的一方总是获得胜利。例如，一个力量属性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90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的敌人达成困难成功需要≤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90/2=45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，其概率大于力量属性只有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30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的主角的普通成功概率（≤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30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），因此主角很难以力量来对抗敌人</a:t>
            </a:r>
            <a:endParaRPr kumimoji="0" lang="ja-JP" altLang="ja-JP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F9DE3A06-48D1-FD61-4C96-F5B7B38C3F82}"/>
              </a:ext>
            </a:extLst>
          </p:cNvPr>
          <p:cNvCxnSpPr>
            <a:cxnSpLocks/>
          </p:cNvCxnSpPr>
          <p:nvPr/>
        </p:nvCxnSpPr>
        <p:spPr>
          <a:xfrm flipV="1">
            <a:off x="7232327" y="5718068"/>
            <a:ext cx="0" cy="176891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 1">
            <a:extLst>
              <a:ext uri="{FF2B5EF4-FFF2-40B4-BE49-F238E27FC236}">
                <a16:creationId xmlns:a16="http://schemas.microsoft.com/office/drawing/2014/main" id="{7C7797FE-5F17-BDD3-65BE-71E96DAEC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160" y="5718068"/>
            <a:ext cx="3410895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开始对抗！</a:t>
            </a:r>
            <a:endParaRPr kumimoji="0" lang="en-US" altLang="zh-CN" sz="14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进行一次对抗检定，并将结果发送到输入栏中。例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: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进行了一次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【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腹黑 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vs 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沉默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的对抗检定。长崎素世 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(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目标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75) 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掷出 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17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，判定为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【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困难成功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；若叶睦 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(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目标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90) 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掷出 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22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，判定为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【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困难成功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。最终结果：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【</a:t>
            </a:r>
            <a:r>
              <a:rPr kumimoji="0" lang="zh-CN" altLang="en-US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双方平手</a:t>
            </a:r>
            <a:r>
              <a:rPr kumimoji="0" lang="en-US" altLang="zh-CN" sz="11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88" name="Rectangle 1">
            <a:extLst>
              <a:ext uri="{FF2B5EF4-FFF2-40B4-BE49-F238E27FC236}">
                <a16:creationId xmlns:a16="http://schemas.microsoft.com/office/drawing/2014/main" id="{7947AC9E-1241-178F-50F6-7B7CB3B97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34" y="5606145"/>
            <a:ext cx="221884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掷骰！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进行一次普通检定，并将结果发送到输入栏中。例：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&lt;user&gt;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发起了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【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敏捷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检定，掷出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14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，需≥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45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，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14&lt;45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，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【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失败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6DBDFA3A-9210-B724-6FBB-07A8BA19D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050" y="2643512"/>
            <a:ext cx="3145773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目标值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手动设定一次成功检定时所需要达成的目标值。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COC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默认规则下，目标值等同于你的属性值，一次成功的检定需要保证投掷结果小于目标值。留空时根据规则和属性值自动计算。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27B767C-39DB-3956-7FE6-7A55653FF80C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8627901" y="3272728"/>
            <a:ext cx="258149" cy="1726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98E22B7-6BFA-AAD1-8FFA-876C89CB9F69}"/>
              </a:ext>
            </a:extLst>
          </p:cNvPr>
          <p:cNvCxnSpPr>
            <a:cxnSpLocks/>
          </p:cNvCxnSpPr>
          <p:nvPr/>
        </p:nvCxnSpPr>
        <p:spPr>
          <a:xfrm>
            <a:off x="7811487" y="4372185"/>
            <a:ext cx="258149" cy="1726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1">
            <a:extLst>
              <a:ext uri="{FF2B5EF4-FFF2-40B4-BE49-F238E27FC236}">
                <a16:creationId xmlns:a16="http://schemas.microsoft.com/office/drawing/2014/main" id="{5946E23A-A9DC-45B1-820D-61F4517C3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6945" y="3957652"/>
            <a:ext cx="31457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随机检定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点击时填入一个随机的检定名。默认是“大杂烩”模式，包含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COC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、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DND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和各种网络迷因的检定名。设置面板指定规则时将只从对应规则的合法检定名中随机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8A5EC703-D520-2E04-0288-4AC4544A469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56135" y="5227610"/>
            <a:ext cx="590701" cy="567106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307CDD52-6C83-0AD7-9EDD-E991F21E03E1}"/>
              </a:ext>
            </a:extLst>
          </p:cNvPr>
          <p:cNvCxnSpPr>
            <a:cxnSpLocks/>
          </p:cNvCxnSpPr>
          <p:nvPr/>
        </p:nvCxnSpPr>
        <p:spPr>
          <a:xfrm rot="10800000">
            <a:off x="1707502" y="3011592"/>
            <a:ext cx="1477710" cy="462494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1">
            <a:extLst>
              <a:ext uri="{FF2B5EF4-FFF2-40B4-BE49-F238E27FC236}">
                <a16:creationId xmlns:a16="http://schemas.microsoft.com/office/drawing/2014/main" id="{CCCC438F-A13B-FE11-610F-75C1169AE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43512"/>
            <a:ext cx="1744990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属性值设置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点击图标或手动输入检定时使用的属性值。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COC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默认规则下，高属性值意味着更强的能力与更高的检定成功率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7414E2BE-911D-B530-6DB0-5539502AB465}"/>
              </a:ext>
            </a:extLst>
          </p:cNvPr>
          <p:cNvCxnSpPr>
            <a:cxnSpLocks/>
          </p:cNvCxnSpPr>
          <p:nvPr/>
        </p:nvCxnSpPr>
        <p:spPr>
          <a:xfrm flipV="1">
            <a:off x="1732582" y="3957652"/>
            <a:ext cx="1549016" cy="629974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FB774056-B0DA-3068-A55B-6EF599A3118B}"/>
              </a:ext>
            </a:extLst>
          </p:cNvPr>
          <p:cNvSpPr/>
          <p:nvPr/>
        </p:nvSpPr>
        <p:spPr>
          <a:xfrm>
            <a:off x="3209727" y="3349023"/>
            <a:ext cx="1084739" cy="2308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7562D2B-9275-23E3-A505-FAB1E6ACF085}"/>
              </a:ext>
            </a:extLst>
          </p:cNvPr>
          <p:cNvSpPr/>
          <p:nvPr/>
        </p:nvSpPr>
        <p:spPr>
          <a:xfrm>
            <a:off x="3136380" y="4121901"/>
            <a:ext cx="2407577" cy="629974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EA120BEE-4680-DEDB-F796-01A50D43EB68}"/>
              </a:ext>
            </a:extLst>
          </p:cNvPr>
          <p:cNvCxnSpPr>
            <a:cxnSpLocks/>
            <a:endCxn id="99" idx="3"/>
          </p:cNvCxnSpPr>
          <p:nvPr/>
        </p:nvCxnSpPr>
        <p:spPr>
          <a:xfrm rot="16200000" flipV="1">
            <a:off x="4143257" y="3615646"/>
            <a:ext cx="657464" cy="355045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70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F8BE2-1E51-D715-DF62-5585D9F0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659" y="1398339"/>
            <a:ext cx="3031044" cy="41063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BCEC0A-7D98-6386-584A-E11E3A1C6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925" y="1135196"/>
            <a:ext cx="2898582" cy="47550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134605-3A50-63C7-DA10-EFEAC42B7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208" y="1135196"/>
            <a:ext cx="2719576" cy="4171954"/>
          </a:xfrm>
          <a:prstGeom prst="rect">
            <a:avLst/>
          </a:prstGeom>
        </p:spPr>
      </p:pic>
      <p:sp>
        <p:nvSpPr>
          <p:cNvPr id="174" name="Rectangle 1">
            <a:extLst>
              <a:ext uri="{FF2B5EF4-FFF2-40B4-BE49-F238E27FC236}">
                <a16:creationId xmlns:a16="http://schemas.microsoft.com/office/drawing/2014/main" id="{8EAE2B73-6BA9-3B37-31D9-82C900EBB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7703" y="1708916"/>
            <a:ext cx="1576231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设定阈值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你可以设定更低的大成功与大失败阈值。大成功意味着发起者无论在多么困难的情况下都能获得一定的胜利，大失败则意味着发起者不仅无法达成目的而且受到了巨大的惩罚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94" name="Rectangle 1">
            <a:extLst>
              <a:ext uri="{FF2B5EF4-FFF2-40B4-BE49-F238E27FC236}">
                <a16:creationId xmlns:a16="http://schemas.microsoft.com/office/drawing/2014/main" id="{EBECF461-622D-7DDF-3DBA-EF8392A34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12" y="5637453"/>
            <a:ext cx="15762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恢复默认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根据当前选定的骰子类型恢复默认值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B637A68B-A56D-569C-8D1B-C7CE81ED7638}"/>
              </a:ext>
            </a:extLst>
          </p:cNvPr>
          <p:cNvCxnSpPr>
            <a:cxnSpLocks/>
          </p:cNvCxnSpPr>
          <p:nvPr/>
        </p:nvCxnSpPr>
        <p:spPr>
          <a:xfrm>
            <a:off x="8392227" y="5309212"/>
            <a:ext cx="0" cy="298518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F761E27-7D6A-D9F4-2A20-7B55676F443A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 flipV="1">
            <a:off x="10529481" y="4333373"/>
            <a:ext cx="179620" cy="1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EE28AD6C-CE51-2DA3-5BB1-70FF6F649747}"/>
              </a:ext>
            </a:extLst>
          </p:cNvPr>
          <p:cNvCxnSpPr>
            <a:cxnSpLocks/>
          </p:cNvCxnSpPr>
          <p:nvPr/>
        </p:nvCxnSpPr>
        <p:spPr>
          <a:xfrm>
            <a:off x="10355797" y="2347372"/>
            <a:ext cx="263494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">
            <a:extLst>
              <a:ext uri="{FF2B5EF4-FFF2-40B4-BE49-F238E27FC236}">
                <a16:creationId xmlns:a16="http://schemas.microsoft.com/office/drawing/2014/main" id="{B21206A2-3705-0A0A-AD22-986E35F05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4604" y="5607730"/>
            <a:ext cx="1624496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平手规则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当对抗检定的成功等级相同时采用的平手规则。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6F64511-6961-F76A-1B90-1C78985EE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9101" y="3887097"/>
            <a:ext cx="14829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隐藏检定结果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开启后你将无法看到投骰结果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，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AI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仍然可以看到结果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C55330F4-7F9C-FCB5-4950-B68A4FC3C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129" y="650909"/>
            <a:ext cx="297512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规则设置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选定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1d100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时显示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COC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规则设置，选定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1d20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时显示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DND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规则设置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29FB0E-8369-1E4A-6D40-DC35F05860BD}"/>
              </a:ext>
            </a:extLst>
          </p:cNvPr>
          <p:cNvCxnSpPr>
            <a:cxnSpLocks/>
          </p:cNvCxnSpPr>
          <p:nvPr/>
        </p:nvCxnSpPr>
        <p:spPr>
          <a:xfrm flipV="1">
            <a:off x="8428050" y="1355423"/>
            <a:ext cx="0" cy="236517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">
            <a:extLst>
              <a:ext uri="{FF2B5EF4-FFF2-40B4-BE49-F238E27FC236}">
                <a16:creationId xmlns:a16="http://schemas.microsoft.com/office/drawing/2014/main" id="{A5344C60-2D32-194B-F57A-F5EA43219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" y="3769340"/>
            <a:ext cx="190750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设置难度</a:t>
            </a: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等级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在下拉菜单中设定此次检定的难度。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COC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默认规则下，普通的难度等级意味着你需要投出小于属性的值以获得成功，困难则意味着你需要投出小于属性值二分之一的值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5BFED4D-A2BB-1046-9FDB-ECA2645C390D}"/>
              </a:ext>
            </a:extLst>
          </p:cNvPr>
          <p:cNvCxnSpPr>
            <a:cxnSpLocks/>
            <a:endCxn id="124" idx="3"/>
          </p:cNvCxnSpPr>
          <p:nvPr/>
        </p:nvCxnSpPr>
        <p:spPr>
          <a:xfrm rot="10800000" flipV="1">
            <a:off x="1916745" y="3970176"/>
            <a:ext cx="1185684" cy="614772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D1AC034-F334-D1E1-9304-9EDC94F3AD40}"/>
              </a:ext>
            </a:extLst>
          </p:cNvPr>
          <p:cNvSpPr/>
          <p:nvPr/>
        </p:nvSpPr>
        <p:spPr>
          <a:xfrm>
            <a:off x="6791657" y="1232420"/>
            <a:ext cx="205026" cy="2308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95335E8-0B7D-DDE0-BBE6-82E013988AFB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6894170" y="865135"/>
            <a:ext cx="0" cy="367285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1">
            <a:extLst>
              <a:ext uri="{FF2B5EF4-FFF2-40B4-BE49-F238E27FC236}">
                <a16:creationId xmlns:a16="http://schemas.microsoft.com/office/drawing/2014/main" id="{DC247409-8397-A559-2F89-77CE3A12F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193" y="175774"/>
            <a:ext cx="18817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切换检定模式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点击图标以切换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普通检定与对抗检定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024A476-7EED-BD30-694C-2AE51DD7301F}"/>
              </a:ext>
            </a:extLst>
          </p:cNvPr>
          <p:cNvCxnSpPr>
            <a:cxnSpLocks/>
            <a:stCxn id="27" idx="2"/>
          </p:cNvCxnSpPr>
          <p:nvPr/>
        </p:nvCxnSpPr>
        <p:spPr>
          <a:xfrm rot="5400000" flipH="1" flipV="1">
            <a:off x="5349136" y="28899"/>
            <a:ext cx="115412" cy="2768463"/>
          </a:xfrm>
          <a:prstGeom prst="bentConnector4">
            <a:avLst>
              <a:gd name="adj1" fmla="val -125312"/>
              <a:gd name="adj2" fmla="val 60108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1D0767-404D-A92E-24D5-0B1AAAA839AD}"/>
              </a:ext>
            </a:extLst>
          </p:cNvPr>
          <p:cNvSpPr/>
          <p:nvPr/>
        </p:nvSpPr>
        <p:spPr>
          <a:xfrm>
            <a:off x="3920098" y="1240010"/>
            <a:ext cx="205026" cy="2308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7103E7D-37DA-9B8A-0228-9FF01F27740F}"/>
              </a:ext>
            </a:extLst>
          </p:cNvPr>
          <p:cNvCxnSpPr>
            <a:cxnSpLocks/>
          </p:cNvCxnSpPr>
          <p:nvPr/>
        </p:nvCxnSpPr>
        <p:spPr>
          <a:xfrm>
            <a:off x="4283807" y="1004852"/>
            <a:ext cx="0" cy="235818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">
            <a:extLst>
              <a:ext uri="{FF2B5EF4-FFF2-40B4-BE49-F238E27FC236}">
                <a16:creationId xmlns:a16="http://schemas.microsoft.com/office/drawing/2014/main" id="{BC06C86C-7CDF-DC9F-4647-89884D97F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982" y="268975"/>
            <a:ext cx="18817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规则设置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点击齿轮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进入规则设置界面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2E5B40D-2969-9D14-1873-100EAC8BEB20}"/>
              </a:ext>
            </a:extLst>
          </p:cNvPr>
          <p:cNvSpPr/>
          <p:nvPr/>
        </p:nvSpPr>
        <p:spPr>
          <a:xfrm>
            <a:off x="3072379" y="4530279"/>
            <a:ext cx="587851" cy="213004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6FBAE38-4DD5-A035-057D-6EF634ED36C2}"/>
              </a:ext>
            </a:extLst>
          </p:cNvPr>
          <p:cNvCxnSpPr>
            <a:cxnSpLocks/>
            <a:stCxn id="38" idx="3"/>
          </p:cNvCxnSpPr>
          <p:nvPr/>
        </p:nvCxnSpPr>
        <p:spPr>
          <a:xfrm flipH="1">
            <a:off x="3227326" y="4636781"/>
            <a:ext cx="432904" cy="1068267"/>
          </a:xfrm>
          <a:prstGeom prst="bentConnector4">
            <a:avLst>
              <a:gd name="adj1" fmla="val -52806"/>
              <a:gd name="adj2" fmla="val 54985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">
            <a:extLst>
              <a:ext uri="{FF2B5EF4-FFF2-40B4-BE49-F238E27FC236}">
                <a16:creationId xmlns:a16="http://schemas.microsoft.com/office/drawing/2014/main" id="{C631CB62-E30D-C2D9-E754-A35B2716C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729" y="5541286"/>
            <a:ext cx="3427603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随机属性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点击骰子图标为当前选中的角色随机填入属性。默认为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DND6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维属性（百分制简化）。你可以在设置界面选择别的规则预设，随机属性会根据规则预设填入随机值。点击废纸篓清空当前规则的属性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B28DA86-43BE-D792-8C1F-B923A0FFD6E9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8392227" y="3578259"/>
            <a:ext cx="1052340" cy="1963027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1F42E41-D03A-545E-E8DF-4DF232C4A4F2}"/>
              </a:ext>
            </a:extLst>
          </p:cNvPr>
          <p:cNvSpPr/>
          <p:nvPr/>
        </p:nvSpPr>
        <p:spPr>
          <a:xfrm>
            <a:off x="7686699" y="3429000"/>
            <a:ext cx="705528" cy="298518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EABC64-200F-7F57-B5D8-102DE6142E88}"/>
              </a:ext>
            </a:extLst>
          </p:cNvPr>
          <p:cNvSpPr/>
          <p:nvPr/>
        </p:nvSpPr>
        <p:spPr>
          <a:xfrm>
            <a:off x="9987354" y="3923466"/>
            <a:ext cx="542127" cy="81981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024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548B365-D595-EBA8-96F3-1045E5AB0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079" y="497096"/>
            <a:ext cx="4236639" cy="33390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0BE424-199E-FFE5-C271-4DE9EFAC4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506" y="151855"/>
            <a:ext cx="3114849" cy="5517036"/>
          </a:xfrm>
          <a:prstGeom prst="rect">
            <a:avLst/>
          </a:prstGeom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DCDAD29-9FEE-229B-D428-52F6F182BD6D}"/>
              </a:ext>
            </a:extLst>
          </p:cNvPr>
          <p:cNvCxnSpPr>
            <a:cxnSpLocks/>
            <a:stCxn id="7" idx="1"/>
            <a:endCxn id="10" idx="2"/>
          </p:cNvCxnSpPr>
          <p:nvPr/>
        </p:nvCxnSpPr>
        <p:spPr>
          <a:xfrm rot="10800000">
            <a:off x="1136879" y="1790835"/>
            <a:ext cx="1185213" cy="2387570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BC9E29-8AD0-CAD7-52DE-5BE4D7C17849}"/>
              </a:ext>
            </a:extLst>
          </p:cNvPr>
          <p:cNvSpPr/>
          <p:nvPr/>
        </p:nvSpPr>
        <p:spPr>
          <a:xfrm>
            <a:off x="2322091" y="4037262"/>
            <a:ext cx="2963027" cy="28228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F5FB29F-FFEE-CE23-17F0-823736E81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8" y="344285"/>
            <a:ext cx="213695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管理自定义属性规则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用于控制检定面板中“随机属性”时合法的属性名与随机生成规则。同时也会修改表格模板中的对应提示词。（此功能仅支持骰子系统的表格模板）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7805DDDB-E312-254C-ED2A-DA59D9C55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076" y="260419"/>
            <a:ext cx="2244491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管理当前属性规则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你可以在这里切换、复制或下载内置的规则。同一时间最多只有一个规则可以被开启。不开启任何规则的情况下默认为六维属性百分制规则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EA8F33-04A2-8AE0-72D1-DE932F619714}"/>
              </a:ext>
            </a:extLst>
          </p:cNvPr>
          <p:cNvSpPr/>
          <p:nvPr/>
        </p:nvSpPr>
        <p:spPr>
          <a:xfrm>
            <a:off x="10873225" y="1216458"/>
            <a:ext cx="1008402" cy="36728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FBA1A7D-39F8-B645-8CB1-17128FCB1679}"/>
              </a:ext>
            </a:extLst>
          </p:cNvPr>
          <p:cNvCxnSpPr>
            <a:cxnSpLocks/>
            <a:stCxn id="21" idx="0"/>
            <a:endCxn id="19" idx="3"/>
          </p:cNvCxnSpPr>
          <p:nvPr/>
        </p:nvCxnSpPr>
        <p:spPr>
          <a:xfrm rot="16200000" flipV="1">
            <a:off x="9359449" y="-801520"/>
            <a:ext cx="325097" cy="3710859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0946C5D-A305-4A14-44EF-687A9D57B69E}"/>
              </a:ext>
            </a:extLst>
          </p:cNvPr>
          <p:cNvCxnSpPr>
            <a:cxnSpLocks/>
            <a:stCxn id="25" idx="1"/>
            <a:endCxn id="34" idx="1"/>
          </p:cNvCxnSpPr>
          <p:nvPr/>
        </p:nvCxnSpPr>
        <p:spPr>
          <a:xfrm rot="10800000">
            <a:off x="7753512" y="3605049"/>
            <a:ext cx="506697" cy="1761528"/>
          </a:xfrm>
          <a:prstGeom prst="bentConnector3">
            <a:avLst>
              <a:gd name="adj1" fmla="val 145116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226496D-E767-EA95-D6B8-FCC34D857973}"/>
              </a:ext>
            </a:extLst>
          </p:cNvPr>
          <p:cNvSpPr/>
          <p:nvPr/>
        </p:nvSpPr>
        <p:spPr>
          <a:xfrm>
            <a:off x="7753511" y="3401487"/>
            <a:ext cx="1813821" cy="407124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06F0360D-9193-097D-6AA0-87B0D1467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615" y="5722420"/>
            <a:ext cx="258305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新建预设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编写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json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格式的预设来自定义预设。请参考内置规则，示例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json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以及“配置格式说明”来制作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06DC0C5-A0C4-21EF-770F-4681AE5EB689}"/>
              </a:ext>
            </a:extLst>
          </p:cNvPr>
          <p:cNvCxnSpPr>
            <a:cxnSpLocks/>
            <a:stCxn id="25" idx="1"/>
            <a:endCxn id="38" idx="0"/>
          </p:cNvCxnSpPr>
          <p:nvPr/>
        </p:nvCxnSpPr>
        <p:spPr>
          <a:xfrm rot="10800000" flipV="1">
            <a:off x="6541142" y="5366576"/>
            <a:ext cx="1719067" cy="355843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D9CB34BD-4FA4-AF5B-B9A3-CE21D219F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208" y="3942593"/>
            <a:ext cx="3015618" cy="284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38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B2DE-47D2-8446-0339-9B2E5E28E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ADF12FA7-14FD-2AD2-CAF7-1BD342B379D4}"/>
              </a:ext>
            </a:extLst>
          </p:cNvPr>
          <p:cNvSpPr/>
          <p:nvPr/>
        </p:nvSpPr>
        <p:spPr>
          <a:xfrm>
            <a:off x="0" y="0"/>
            <a:ext cx="12192000" cy="689751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2F0C734D-F321-8281-7C47-F7DF9AD09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88" y="547648"/>
            <a:ext cx="5966813" cy="5469579"/>
          </a:xfrm>
          <a:prstGeom prst="rect">
            <a:avLst/>
          </a:prstGeom>
        </p:spPr>
      </p:pic>
      <p:sp>
        <p:nvSpPr>
          <p:cNvPr id="113" name="Rectangle 1">
            <a:extLst>
              <a:ext uri="{FF2B5EF4-FFF2-40B4-BE49-F238E27FC236}">
                <a16:creationId xmlns:a16="http://schemas.microsoft.com/office/drawing/2014/main" id="{B92C2E28-674B-40A3-961C-0DDA2FE75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5052" y="891754"/>
            <a:ext cx="201629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更新审核面板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每一轮表格更新时，更新审核面板会列举出所有更新，供用户进行审核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92448ED-C451-3B20-A06B-62920E918B8F}"/>
              </a:ext>
            </a:extLst>
          </p:cNvPr>
          <p:cNvCxnSpPr>
            <a:cxnSpLocks/>
          </p:cNvCxnSpPr>
          <p:nvPr/>
        </p:nvCxnSpPr>
        <p:spPr>
          <a:xfrm>
            <a:off x="1448060" y="1041199"/>
            <a:ext cx="368299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">
            <a:extLst>
              <a:ext uri="{FF2B5EF4-FFF2-40B4-BE49-F238E27FC236}">
                <a16:creationId xmlns:a16="http://schemas.microsoft.com/office/drawing/2014/main" id="{52441168-8F77-517A-F881-F03EB0072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6" y="3350464"/>
            <a:ext cx="1882822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更新图标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每个条目的开头图标用来表达条目更新的类别。包含：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 【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新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新增、 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【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更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更新、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【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删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】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删除，三种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EF56F1D7-DE30-7A95-0055-6C3E0FA68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607" y="5706713"/>
            <a:ext cx="201629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更新计数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显示本轮交互各个表产生的变更数量，以及所有表的综合变更数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148192-705A-78CF-8B79-1070F2F34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526" y="591409"/>
            <a:ext cx="3100038" cy="2590674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4C8C92-7CAA-ADB9-A0CB-B55E73A2B714}"/>
              </a:ext>
            </a:extLst>
          </p:cNvPr>
          <p:cNvCxnSpPr>
            <a:cxnSpLocks/>
          </p:cNvCxnSpPr>
          <p:nvPr/>
        </p:nvCxnSpPr>
        <p:spPr>
          <a:xfrm flipV="1">
            <a:off x="4053350" y="2043404"/>
            <a:ext cx="0" cy="241969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8763093-0EF9-C915-4FDC-071850094C0B}"/>
              </a:ext>
            </a:extLst>
          </p:cNvPr>
          <p:cNvSpPr/>
          <p:nvPr/>
        </p:nvSpPr>
        <p:spPr>
          <a:xfrm>
            <a:off x="2043715" y="2955456"/>
            <a:ext cx="168856" cy="2266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F30557-6736-4C3E-8ADC-03EB74A9929C}"/>
              </a:ext>
            </a:extLst>
          </p:cNvPr>
          <p:cNvSpPr/>
          <p:nvPr/>
        </p:nvSpPr>
        <p:spPr>
          <a:xfrm>
            <a:off x="2043715" y="4499035"/>
            <a:ext cx="168856" cy="2266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A4295F6-6AA3-B465-4A12-FD2C949283F0}"/>
              </a:ext>
            </a:extLst>
          </p:cNvPr>
          <p:cNvCxnSpPr>
            <a:cxnSpLocks/>
            <a:stCxn id="28" idx="1"/>
            <a:endCxn id="29" idx="1"/>
          </p:cNvCxnSpPr>
          <p:nvPr/>
        </p:nvCxnSpPr>
        <p:spPr>
          <a:xfrm rot="10800000" flipV="1">
            <a:off x="2043715" y="3068769"/>
            <a:ext cx="12700" cy="1543579"/>
          </a:xfrm>
          <a:prstGeom prst="bentConnector3">
            <a:avLst>
              <a:gd name="adj1" fmla="val 1800000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">
            <a:extLst>
              <a:ext uri="{FF2B5EF4-FFF2-40B4-BE49-F238E27FC236}">
                <a16:creationId xmlns:a16="http://schemas.microsoft.com/office/drawing/2014/main" id="{F149F774-9837-C7C5-B03C-85C0CC3F7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80" y="1852995"/>
            <a:ext cx="121562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展开</a:t>
            </a:r>
            <a:r>
              <a:rPr kumimoji="0" lang="en-US" altLang="zh-CN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/</a:t>
            </a: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收起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点击箭头以展开或收起某个表格中发生的所有变化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7292E21-7BCB-3D4D-7E23-A1231D9E0BF2}"/>
              </a:ext>
            </a:extLst>
          </p:cNvPr>
          <p:cNvSpPr/>
          <p:nvPr/>
        </p:nvSpPr>
        <p:spPr>
          <a:xfrm>
            <a:off x="1972574" y="1886746"/>
            <a:ext cx="168856" cy="2266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B904D6F-7BCF-BA35-33EC-EC9D89ED7082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1688841" y="2000059"/>
            <a:ext cx="283733" cy="1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4E9E9D3-398A-3BFB-3CD1-FAC106C62E1B}"/>
              </a:ext>
            </a:extLst>
          </p:cNvPr>
          <p:cNvCxnSpPr>
            <a:cxnSpLocks/>
          </p:cNvCxnSpPr>
          <p:nvPr/>
        </p:nvCxnSpPr>
        <p:spPr>
          <a:xfrm>
            <a:off x="6541398" y="3068769"/>
            <a:ext cx="368299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68763D2-19D2-C7FA-A4F6-A5ACBDD887B1}"/>
              </a:ext>
            </a:extLst>
          </p:cNvPr>
          <p:cNvSpPr/>
          <p:nvPr/>
        </p:nvSpPr>
        <p:spPr>
          <a:xfrm>
            <a:off x="3210418" y="5031101"/>
            <a:ext cx="705706" cy="264021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D912051-4FDA-020C-3567-D5BFFBAAAD49}"/>
              </a:ext>
            </a:extLst>
          </p:cNvPr>
          <p:cNvSpPr/>
          <p:nvPr/>
        </p:nvSpPr>
        <p:spPr>
          <a:xfrm>
            <a:off x="7374981" y="1074009"/>
            <a:ext cx="303143" cy="3332683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C5417F2-216D-FB1B-8763-EF279FCEA3F5}"/>
              </a:ext>
            </a:extLst>
          </p:cNvPr>
          <p:cNvCxnSpPr>
            <a:cxnSpLocks/>
          </p:cNvCxnSpPr>
          <p:nvPr/>
        </p:nvCxnSpPr>
        <p:spPr>
          <a:xfrm>
            <a:off x="3916124" y="5177299"/>
            <a:ext cx="1418630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4164CE5D-00DD-764E-8679-E39E2985AD01}"/>
              </a:ext>
            </a:extLst>
          </p:cNvPr>
          <p:cNvCxnSpPr>
            <a:cxnSpLocks/>
            <a:endCxn id="17" idx="0"/>
          </p:cNvCxnSpPr>
          <p:nvPr/>
        </p:nvCxnSpPr>
        <p:spPr>
          <a:xfrm rot="10800000" flipV="1">
            <a:off x="5334755" y="4033917"/>
            <a:ext cx="2040226" cy="1672795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1">
            <a:extLst>
              <a:ext uri="{FF2B5EF4-FFF2-40B4-BE49-F238E27FC236}">
                <a16:creationId xmlns:a16="http://schemas.microsoft.com/office/drawing/2014/main" id="{6AA66FDD-F7AB-D556-C305-F8C9D7DAF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870" y="2622493"/>
            <a:ext cx="201629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审核功能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点击对号接受本条更新，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点击旋转箭头来回滚更新。点击铅笔来编辑对应条目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93" name="Rectangle 1">
            <a:extLst>
              <a:ext uri="{FF2B5EF4-FFF2-40B4-BE49-F238E27FC236}">
                <a16:creationId xmlns:a16="http://schemas.microsoft.com/office/drawing/2014/main" id="{1A9B15A6-5824-CF38-F006-3ADF44F24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439" y="258735"/>
            <a:ext cx="2021876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审核面板快捷操作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从左到右分别为：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接受全部，回滚全部，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重新手动填表，关闭面板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91C03D0-D0C4-2F5F-38B6-14A97E53BFFE}"/>
              </a:ext>
            </a:extLst>
          </p:cNvPr>
          <p:cNvCxnSpPr>
            <a:cxnSpLocks/>
          </p:cNvCxnSpPr>
          <p:nvPr/>
        </p:nvCxnSpPr>
        <p:spPr>
          <a:xfrm>
            <a:off x="6245929" y="765790"/>
            <a:ext cx="264176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81F332F-9911-AB24-1CB0-07A1AFC7A87B}"/>
              </a:ext>
            </a:extLst>
          </p:cNvPr>
          <p:cNvSpPr/>
          <p:nvPr/>
        </p:nvSpPr>
        <p:spPr>
          <a:xfrm>
            <a:off x="2919461" y="2955456"/>
            <a:ext cx="642206" cy="264021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9A5C2FE2-C721-698A-39EA-7B4F3F52B106}"/>
              </a:ext>
            </a:extLst>
          </p:cNvPr>
          <p:cNvSpPr/>
          <p:nvPr/>
        </p:nvSpPr>
        <p:spPr>
          <a:xfrm>
            <a:off x="4510132" y="2153363"/>
            <a:ext cx="642206" cy="264021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D5ECA79F-9E2F-6AB5-125B-6B21CB771397}"/>
              </a:ext>
            </a:extLst>
          </p:cNvPr>
          <p:cNvCxnSpPr>
            <a:cxnSpLocks/>
            <a:stCxn id="102" idx="0"/>
            <a:endCxn id="103" idx="1"/>
          </p:cNvCxnSpPr>
          <p:nvPr/>
        </p:nvCxnSpPr>
        <p:spPr>
          <a:xfrm rot="5400000" flipH="1" flipV="1">
            <a:off x="3540307" y="1985631"/>
            <a:ext cx="670082" cy="1269568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">
            <a:extLst>
              <a:ext uri="{FF2B5EF4-FFF2-40B4-BE49-F238E27FC236}">
                <a16:creationId xmlns:a16="http://schemas.microsoft.com/office/drawing/2014/main" id="{9721D8D4-A850-2FD5-C317-FDE27E3BD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141" y="1357750"/>
            <a:ext cx="366536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更新概要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当只有一个单元格被更改时，显示单元格更新内容，当一整行中发生复数更改时，显示发生更改的列名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EEDE11C1-4C09-B3A8-34E1-03D2C8B57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528" y="3219477"/>
            <a:ext cx="3113688" cy="3638523"/>
          </a:xfrm>
          <a:prstGeom prst="rect">
            <a:avLst/>
          </a:prstGeom>
        </p:spPr>
      </p:pic>
      <p:sp>
        <p:nvSpPr>
          <p:cNvPr id="115" name="Rectangle 1">
            <a:extLst>
              <a:ext uri="{FF2B5EF4-FFF2-40B4-BE49-F238E27FC236}">
                <a16:creationId xmlns:a16="http://schemas.microsoft.com/office/drawing/2014/main" id="{C460CA96-D7DD-6849-38B6-5AAA1F15D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8580" y="3515045"/>
            <a:ext cx="201629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整体编辑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当一整行发生复数更改时，点击铅笔智能唤出整体编辑面板，可以对照更新前后的内容进行接受、回滚、修改操作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16" name="Rectangle 1">
            <a:extLst>
              <a:ext uri="{FF2B5EF4-FFF2-40B4-BE49-F238E27FC236}">
                <a16:creationId xmlns:a16="http://schemas.microsoft.com/office/drawing/2014/main" id="{2A2094B8-506D-0494-5AD5-1F669522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2549" y="542142"/>
            <a:ext cx="201629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单元格编辑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当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某一个单元格发生更改时，点击铅笔智能唤出单元格编辑面板， 可以对照更新前后的内容进行接受、回滚、修改操作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7596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187086BF-5FC7-FA6E-0476-0AEB004ED753}"/>
              </a:ext>
            </a:extLst>
          </p:cNvPr>
          <p:cNvSpPr/>
          <p:nvPr/>
        </p:nvSpPr>
        <p:spPr>
          <a:xfrm>
            <a:off x="0" y="0"/>
            <a:ext cx="12192000" cy="689751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6473E640-F9EF-AD7C-BBC1-41F4727EF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105" y="795547"/>
            <a:ext cx="1460489" cy="395390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EC17E85-4F2F-1200-78BF-40456D16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778" y="888483"/>
            <a:ext cx="2493952" cy="4684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2A154-B66F-63C4-0AB0-F22ED09F4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697" y="888483"/>
            <a:ext cx="2683913" cy="4703198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79BD99E-6738-567C-2C26-3A1C734012A5}"/>
              </a:ext>
            </a:extLst>
          </p:cNvPr>
          <p:cNvCxnSpPr>
            <a:cxnSpLocks/>
            <a:stCxn id="34" idx="1"/>
            <a:endCxn id="33" idx="3"/>
          </p:cNvCxnSpPr>
          <p:nvPr/>
        </p:nvCxnSpPr>
        <p:spPr>
          <a:xfrm rot="10800000">
            <a:off x="4605868" y="4375431"/>
            <a:ext cx="1021573" cy="354563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5CEDA2-3CDB-4179-8078-6796ECC604C8}"/>
              </a:ext>
            </a:extLst>
          </p:cNvPr>
          <p:cNvCxnSpPr>
            <a:cxnSpLocks/>
          </p:cNvCxnSpPr>
          <p:nvPr/>
        </p:nvCxnSpPr>
        <p:spPr>
          <a:xfrm>
            <a:off x="3612157" y="5969516"/>
            <a:ext cx="390663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">
            <a:extLst>
              <a:ext uri="{FF2B5EF4-FFF2-40B4-BE49-F238E27FC236}">
                <a16:creationId xmlns:a16="http://schemas.microsoft.com/office/drawing/2014/main" id="{464667D8-68AB-F809-B624-850C0FA2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29" y="5609160"/>
            <a:ext cx="2111143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主角表与重要人物表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角色表的特点在于会智能吃拆分带有“属性”和“关系”的列来智能显示。例如“力量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:35,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敏捷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:45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”会分别显示为两条属性。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0890EA5-2D09-442C-DCAA-8C3F95F9C9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512" y="5706406"/>
            <a:ext cx="7002705" cy="115159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5802D1-3B49-A71E-6827-812A2FCFE713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2189238" y="6282203"/>
            <a:ext cx="220274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">
            <a:extLst>
              <a:ext uri="{FF2B5EF4-FFF2-40B4-BE49-F238E27FC236}">
                <a16:creationId xmlns:a16="http://schemas.microsoft.com/office/drawing/2014/main" id="{280818C7-D835-311D-E21C-8497B0EF3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893" y="1978198"/>
            <a:ext cx="1882822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快速检定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所有表中带有数字的字段均会渲染一个骰子图标，点击骰子图标可以快速以当前角色的当前属性发起一次普通检定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11EC1F-2D96-E777-2404-91FA45085602}"/>
              </a:ext>
            </a:extLst>
          </p:cNvPr>
          <p:cNvSpPr/>
          <p:nvPr/>
        </p:nvSpPr>
        <p:spPr>
          <a:xfrm>
            <a:off x="4369469" y="3964255"/>
            <a:ext cx="236398" cy="822349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58F411A-390A-E84F-565E-7585596D4069}"/>
              </a:ext>
            </a:extLst>
          </p:cNvPr>
          <p:cNvSpPr/>
          <p:nvPr/>
        </p:nvSpPr>
        <p:spPr>
          <a:xfrm>
            <a:off x="5627440" y="3964255"/>
            <a:ext cx="236398" cy="153147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701107F-A8FC-C6B0-77F0-02E6D74EC3CD}"/>
              </a:ext>
            </a:extLst>
          </p:cNvPr>
          <p:cNvSpPr/>
          <p:nvPr/>
        </p:nvSpPr>
        <p:spPr>
          <a:xfrm>
            <a:off x="7111135" y="2936332"/>
            <a:ext cx="163287" cy="109449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E4F680E-A0B5-786B-0C7B-DB68DEDBE93D}"/>
              </a:ext>
            </a:extLst>
          </p:cNvPr>
          <p:cNvSpPr/>
          <p:nvPr/>
        </p:nvSpPr>
        <p:spPr>
          <a:xfrm>
            <a:off x="8287463" y="2936332"/>
            <a:ext cx="163287" cy="109449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EEFD326-7AC7-F351-965C-B25542340FD6}"/>
              </a:ext>
            </a:extLst>
          </p:cNvPr>
          <p:cNvCxnSpPr>
            <a:cxnSpLocks/>
            <a:stCxn id="35" idx="1"/>
            <a:endCxn id="34" idx="3"/>
          </p:cNvCxnSpPr>
          <p:nvPr/>
        </p:nvCxnSpPr>
        <p:spPr>
          <a:xfrm rot="10800000" flipV="1">
            <a:off x="5863839" y="3483577"/>
            <a:ext cx="1247297" cy="1246415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D017A28-3B1F-FD4B-BE46-9872DD6B96F8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7293844" y="3480058"/>
            <a:ext cx="993619" cy="352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5866BDA-ED82-183D-F23D-63C37D3775E4}"/>
              </a:ext>
            </a:extLst>
          </p:cNvPr>
          <p:cNvCxnSpPr>
            <a:cxnSpLocks/>
            <a:stCxn id="33" idx="0"/>
          </p:cNvCxnSpPr>
          <p:nvPr/>
        </p:nvCxnSpPr>
        <p:spPr>
          <a:xfrm rot="16200000" flipV="1">
            <a:off x="3112723" y="2589310"/>
            <a:ext cx="1168938" cy="1580952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A20C2E47-551B-4936-F09A-FD5147FBF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111" y="3177340"/>
            <a:ext cx="1591112" cy="2396177"/>
          </a:xfrm>
          <a:prstGeom prst="rect">
            <a:avLst/>
          </a:prstGeom>
        </p:spPr>
      </p:pic>
      <p:sp>
        <p:nvSpPr>
          <p:cNvPr id="70" name="Rectangle 1">
            <a:extLst>
              <a:ext uri="{FF2B5EF4-FFF2-40B4-BE49-F238E27FC236}">
                <a16:creationId xmlns:a16="http://schemas.microsoft.com/office/drawing/2014/main" id="{32020356-4E01-53D6-1DD9-C814CE3DC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5233" y="78880"/>
            <a:ext cx="18828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上下文菜单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点击任意条目以呼出上下文菜单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6251270-EF65-706D-2CB2-81266E2C3D97}"/>
              </a:ext>
            </a:extLst>
          </p:cNvPr>
          <p:cNvCxnSpPr>
            <a:cxnSpLocks/>
            <a:stCxn id="62" idx="0"/>
            <a:endCxn id="8" idx="0"/>
          </p:cNvCxnSpPr>
          <p:nvPr/>
        </p:nvCxnSpPr>
        <p:spPr>
          <a:xfrm rot="16200000" flipV="1">
            <a:off x="5928704" y="-468567"/>
            <a:ext cx="12700" cy="2714100"/>
          </a:xfrm>
          <a:prstGeom prst="bentConnector3">
            <a:avLst>
              <a:gd name="adj1" fmla="val 1800000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0D623C4F-412A-FA2C-02CA-3EAA592A10BF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98616" y="-346327"/>
            <a:ext cx="112934" cy="2137245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6A9243D-9774-D67B-C240-72FBBACD2C83}"/>
              </a:ext>
            </a:extLst>
          </p:cNvPr>
          <p:cNvSpPr/>
          <p:nvPr/>
        </p:nvSpPr>
        <p:spPr>
          <a:xfrm>
            <a:off x="7590777" y="967245"/>
            <a:ext cx="201494" cy="226011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027028FD-58A6-96A4-7379-C753B648A224}"/>
              </a:ext>
            </a:extLst>
          </p:cNvPr>
          <p:cNvCxnSpPr>
            <a:cxnSpLocks/>
            <a:endCxn id="84" idx="2"/>
          </p:cNvCxnSpPr>
          <p:nvPr/>
        </p:nvCxnSpPr>
        <p:spPr>
          <a:xfrm rot="10800000">
            <a:off x="7691525" y="1193256"/>
            <a:ext cx="1737825" cy="1263344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E85DC16-C914-61E0-C6FE-255758A93F30}"/>
              </a:ext>
            </a:extLst>
          </p:cNvPr>
          <p:cNvCxnSpPr>
            <a:cxnSpLocks/>
          </p:cNvCxnSpPr>
          <p:nvPr/>
        </p:nvCxnSpPr>
        <p:spPr>
          <a:xfrm flipH="1" flipV="1">
            <a:off x="9444369" y="2450039"/>
            <a:ext cx="10864" cy="644688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1">
            <a:extLst>
              <a:ext uri="{FF2B5EF4-FFF2-40B4-BE49-F238E27FC236}">
                <a16:creationId xmlns:a16="http://schemas.microsoft.com/office/drawing/2014/main" id="{4C6126D2-B1A0-2067-A643-E841B4A9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5477" y="1040606"/>
            <a:ext cx="135511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锁定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锁定某一单元格或锁定整行。被锁定的数据会显示🔒的标记，被锁定的数据无法被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AI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更新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2092F83B-8001-72A6-93FC-7F6215567D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3280" y="3041395"/>
            <a:ext cx="1418156" cy="922860"/>
          </a:xfrm>
          <a:prstGeom prst="rect">
            <a:avLst/>
          </a:prstGeom>
        </p:spPr>
      </p:pic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DD2FB07E-4406-185A-42EA-9B8B48A1760B}"/>
              </a:ext>
            </a:extLst>
          </p:cNvPr>
          <p:cNvCxnSpPr>
            <a:cxnSpLocks/>
            <a:endCxn id="104" idx="0"/>
          </p:cNvCxnSpPr>
          <p:nvPr/>
        </p:nvCxnSpPr>
        <p:spPr>
          <a:xfrm>
            <a:off x="9429349" y="2456600"/>
            <a:ext cx="1503009" cy="584795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B11D21E-C62D-9C63-B45D-4FEFC632536D}"/>
              </a:ext>
            </a:extLst>
          </p:cNvPr>
          <p:cNvSpPr/>
          <p:nvPr/>
        </p:nvSpPr>
        <p:spPr>
          <a:xfrm>
            <a:off x="8762790" y="3094727"/>
            <a:ext cx="2878645" cy="77066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7A6F31F-A717-B7F9-1014-03C434DC8594}"/>
              </a:ext>
            </a:extLst>
          </p:cNvPr>
          <p:cNvCxnSpPr>
            <a:cxnSpLocks/>
          </p:cNvCxnSpPr>
          <p:nvPr/>
        </p:nvCxnSpPr>
        <p:spPr>
          <a:xfrm flipH="1">
            <a:off x="7936089" y="5322831"/>
            <a:ext cx="553117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">
            <a:extLst>
              <a:ext uri="{FF2B5EF4-FFF2-40B4-BE49-F238E27FC236}">
                <a16:creationId xmlns:a16="http://schemas.microsoft.com/office/drawing/2014/main" id="{DE987E65-ED16-0ABA-7B82-C1FB856A9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750" y="4727496"/>
            <a:ext cx="364358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交互选项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点击按钮将发送对应的交互选项到输入栏。例：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&lt;user&gt;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观察纯田真奈。绝大多数表都有预设的交互选项，也可以通过增加“交互选项”列来实现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AI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智能生成更多选项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2882A88-7A1E-935D-3273-457FD7691828}"/>
              </a:ext>
            </a:extLst>
          </p:cNvPr>
          <p:cNvCxnSpPr>
            <a:cxnSpLocks/>
          </p:cNvCxnSpPr>
          <p:nvPr/>
        </p:nvCxnSpPr>
        <p:spPr>
          <a:xfrm flipH="1">
            <a:off x="7230533" y="6575897"/>
            <a:ext cx="403486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">
            <a:extLst>
              <a:ext uri="{FF2B5EF4-FFF2-40B4-BE49-F238E27FC236}">
                <a16:creationId xmlns:a16="http://schemas.microsoft.com/office/drawing/2014/main" id="{2E0F9E7F-EEDF-6FEB-5D0A-8B5338855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8960" y="6402866"/>
            <a:ext cx="36435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保存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手动修改表格后需点击保存按钮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1108B99D-CD3E-C2F2-AB00-3F6EBE8F2D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9" y="992319"/>
            <a:ext cx="2019523" cy="605433"/>
          </a:xfrm>
          <a:prstGeom prst="rect">
            <a:avLst/>
          </a:prstGeom>
        </p:spPr>
      </p:pic>
      <p:sp>
        <p:nvSpPr>
          <p:cNvPr id="125" name="Rectangle 1">
            <a:extLst>
              <a:ext uri="{FF2B5EF4-FFF2-40B4-BE49-F238E27FC236}">
                <a16:creationId xmlns:a16="http://schemas.microsoft.com/office/drawing/2014/main" id="{03FE6EF8-6ECF-2616-C2B0-8F55FC8B8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49" y="308529"/>
            <a:ext cx="18828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高亮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本轮互动中发生更改的单元格将被高亮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28" name="Rectangle 1">
            <a:extLst>
              <a:ext uri="{FF2B5EF4-FFF2-40B4-BE49-F238E27FC236}">
                <a16:creationId xmlns:a16="http://schemas.microsoft.com/office/drawing/2014/main" id="{242FEBA5-864B-2CE5-392E-87D4CF290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255" y="158858"/>
            <a:ext cx="229165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可视化表格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每一张“卡片”本质上是数据库中表格一整行的数据。每一个数据代表一个单元格。如表格中的年龄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15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，代表着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{{user}}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这一行表格，年龄这一列的单元格数据为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15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56EC89FD-FA17-D86B-C20A-B93AF3B4E663}"/>
              </a:ext>
            </a:extLst>
          </p:cNvPr>
          <p:cNvSpPr/>
          <p:nvPr/>
        </p:nvSpPr>
        <p:spPr>
          <a:xfrm>
            <a:off x="3369392" y="1678441"/>
            <a:ext cx="677676" cy="34791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AE2444B-3644-54AE-988B-FA1EA5BECB6C}"/>
              </a:ext>
            </a:extLst>
          </p:cNvPr>
          <p:cNvCxnSpPr>
            <a:cxnSpLocks/>
          </p:cNvCxnSpPr>
          <p:nvPr/>
        </p:nvCxnSpPr>
        <p:spPr>
          <a:xfrm>
            <a:off x="3612157" y="1377244"/>
            <a:ext cx="0" cy="301197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82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F60BC853-2766-F258-84EF-C885529CA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979" y="3322218"/>
            <a:ext cx="1758715" cy="191097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3FA364B-3A8D-B44A-3EBB-DE9EF04A5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35" y="819734"/>
            <a:ext cx="3585840" cy="3041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8B689E-7DB4-62F8-8AC5-4A4FCE454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30" y="3614529"/>
            <a:ext cx="3925491" cy="30486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57EAC2-91EC-0E2F-A6F5-7FF2EA276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731"/>
          <a:stretch>
            <a:fillRect/>
          </a:stretch>
        </p:blipFill>
        <p:spPr>
          <a:xfrm>
            <a:off x="412363" y="370396"/>
            <a:ext cx="722171" cy="3598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53C618-B7B2-2265-3BB0-A283A6CE03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21"/>
          <a:stretch>
            <a:fillRect/>
          </a:stretch>
        </p:blipFill>
        <p:spPr>
          <a:xfrm>
            <a:off x="412363" y="730269"/>
            <a:ext cx="2502176" cy="4832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24BF9E-45C8-210B-8AF1-35C2577A4E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63" t="-974" b="-1"/>
          <a:stretch>
            <a:fillRect/>
          </a:stretch>
        </p:blipFill>
        <p:spPr>
          <a:xfrm>
            <a:off x="1134534" y="370396"/>
            <a:ext cx="2161504" cy="36338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39A02C-D054-DAEA-8476-DD4AD8CE2D41}"/>
              </a:ext>
            </a:extLst>
          </p:cNvPr>
          <p:cNvSpPr/>
          <p:nvPr/>
        </p:nvSpPr>
        <p:spPr>
          <a:xfrm>
            <a:off x="1134534" y="384107"/>
            <a:ext cx="304799" cy="28193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D3EE61-BDA6-BEA7-990F-B16BAF8D793C}"/>
              </a:ext>
            </a:extLst>
          </p:cNvPr>
          <p:cNvSpPr/>
          <p:nvPr/>
        </p:nvSpPr>
        <p:spPr>
          <a:xfrm>
            <a:off x="2393246" y="798002"/>
            <a:ext cx="214488" cy="20106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DF67ACB-F527-E7FA-3B03-A2493F7BC838}"/>
              </a:ext>
            </a:extLst>
          </p:cNvPr>
          <p:cNvCxnSpPr>
            <a:cxnSpLocks/>
            <a:stCxn id="16" idx="1"/>
            <a:endCxn id="15" idx="2"/>
          </p:cNvCxnSpPr>
          <p:nvPr/>
        </p:nvCxnSpPr>
        <p:spPr>
          <a:xfrm rot="10800000">
            <a:off x="1286934" y="666045"/>
            <a:ext cx="1106312" cy="232491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">
            <a:extLst>
              <a:ext uri="{FF2B5EF4-FFF2-40B4-BE49-F238E27FC236}">
                <a16:creationId xmlns:a16="http://schemas.microsoft.com/office/drawing/2014/main" id="{B40FBC44-284B-0E9E-1F4D-5F94B6600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446" y="1147636"/>
            <a:ext cx="188282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人物关系图入口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点击重要人物表右上角和仪表盘中间靠下的图标进入人物关系图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F75EFCFD-0B41-C82A-5929-9C877DB7C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583" y="3737498"/>
            <a:ext cx="3552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人物关系图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悬停（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PC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）或长按（手机）角色，以高亮对应角色的关系。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076DF93-6F2E-4CB7-FEBE-55A7FD005E63}"/>
              </a:ext>
            </a:extLst>
          </p:cNvPr>
          <p:cNvSpPr/>
          <p:nvPr/>
        </p:nvSpPr>
        <p:spPr>
          <a:xfrm>
            <a:off x="2653892" y="798002"/>
            <a:ext cx="214488" cy="20106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41589D3-9D62-CE9A-6DEA-C2B348BB2896}"/>
              </a:ext>
            </a:extLst>
          </p:cNvPr>
          <p:cNvSpPr/>
          <p:nvPr/>
        </p:nvSpPr>
        <p:spPr>
          <a:xfrm>
            <a:off x="3828823" y="3628435"/>
            <a:ext cx="214488" cy="20106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D8BB4A7-B61C-3BD1-5002-CADCC4C509B1}"/>
              </a:ext>
            </a:extLst>
          </p:cNvPr>
          <p:cNvCxnSpPr>
            <a:cxnSpLocks/>
            <a:stCxn id="32" idx="0"/>
            <a:endCxn id="31" idx="3"/>
          </p:cNvCxnSpPr>
          <p:nvPr/>
        </p:nvCxnSpPr>
        <p:spPr>
          <a:xfrm rot="16200000" flipV="1">
            <a:off x="2037274" y="1729641"/>
            <a:ext cx="2729900" cy="1067687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37B3DD-EB4B-8236-438D-36E6B64CC171}"/>
              </a:ext>
            </a:extLst>
          </p:cNvPr>
          <p:cNvCxnSpPr>
            <a:cxnSpLocks/>
          </p:cNvCxnSpPr>
          <p:nvPr/>
        </p:nvCxnSpPr>
        <p:spPr>
          <a:xfrm flipH="1">
            <a:off x="3888065" y="898534"/>
            <a:ext cx="2449103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64D1A88-6A5F-C033-00E1-1EE99588A517}"/>
              </a:ext>
            </a:extLst>
          </p:cNvPr>
          <p:cNvSpPr/>
          <p:nvPr/>
        </p:nvSpPr>
        <p:spPr>
          <a:xfrm>
            <a:off x="6586402" y="2304002"/>
            <a:ext cx="371530" cy="42187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D9C17F04-2139-5CD4-7B1E-A9BAC94AB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718" y="168395"/>
            <a:ext cx="259736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头像管理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点击重要人物表或人物关系图右上角的图标进入头像管理页面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7A9896C9-07D6-AE77-AED0-98486FD4D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6289" y="5176734"/>
            <a:ext cx="183666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本地上传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点击空白的头像进行本地上传，在呼出的界面中进行调整，你可以在任何时候重新点击头像以调整位置或上传新头像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8CA341-56F4-999C-3C3F-E055036EF922}"/>
              </a:ext>
            </a:extLst>
          </p:cNvPr>
          <p:cNvCxnSpPr>
            <a:cxnSpLocks/>
            <a:stCxn id="38" idx="0"/>
          </p:cNvCxnSpPr>
          <p:nvPr/>
        </p:nvCxnSpPr>
        <p:spPr>
          <a:xfrm>
            <a:off x="11144621" y="5176734"/>
            <a:ext cx="0" cy="18458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1">
            <a:extLst>
              <a:ext uri="{FF2B5EF4-FFF2-40B4-BE49-F238E27FC236}">
                <a16:creationId xmlns:a16="http://schemas.microsoft.com/office/drawing/2014/main" id="{DD8B0357-DADD-58A7-90D0-A5B2FA2F5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155" y="4115463"/>
            <a:ext cx="183666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设置别名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你可以为角色设置不同的别名，所有隶属于同一个角色的别名在人物关系图中会合并为一个，并共享唯一头像。别名之间需要用英文逗号隔开，例：“希罗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,</a:t>
            </a:r>
            <a:r>
              <a:rPr kumimoji="0" lang="en-US" altLang="zh-CN" sz="1200" dirty="0" err="1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kiro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”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599BF14-7C1B-F4FC-05D4-BA660B57B138}"/>
              </a:ext>
            </a:extLst>
          </p:cNvPr>
          <p:cNvCxnSpPr>
            <a:cxnSpLocks/>
          </p:cNvCxnSpPr>
          <p:nvPr/>
        </p:nvCxnSpPr>
        <p:spPr>
          <a:xfrm>
            <a:off x="7180486" y="3903451"/>
            <a:ext cx="0" cy="184819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EE655E0-DB30-6C7D-582B-40DE82F4A2B8}"/>
              </a:ext>
            </a:extLst>
          </p:cNvPr>
          <p:cNvCxnSpPr>
            <a:cxnSpLocks/>
          </p:cNvCxnSpPr>
          <p:nvPr/>
        </p:nvCxnSpPr>
        <p:spPr>
          <a:xfrm>
            <a:off x="9100001" y="3690457"/>
            <a:ext cx="0" cy="1050876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1">
            <a:extLst>
              <a:ext uri="{FF2B5EF4-FFF2-40B4-BE49-F238E27FC236}">
                <a16:creationId xmlns:a16="http://schemas.microsoft.com/office/drawing/2014/main" id="{1F0AC39F-C37A-BF3E-66AF-1A20A2F82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669" y="4689864"/>
            <a:ext cx="183666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设置</a:t>
            </a:r>
            <a:r>
              <a:rPr kumimoji="0" lang="en-US" altLang="zh-CN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URL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你可以输入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URL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来作为你的角色头像。点击对号以完成一次设定。网图同样支持头像调整功能，并且可以作为配置在用户间共享。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796D11C-C131-21C7-920D-7E07921661F9}"/>
              </a:ext>
            </a:extLst>
          </p:cNvPr>
          <p:cNvSpPr/>
          <p:nvPr/>
        </p:nvSpPr>
        <p:spPr>
          <a:xfrm>
            <a:off x="9396064" y="3085626"/>
            <a:ext cx="256710" cy="25058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49AD5575-BADB-4EE1-FD17-969EE6B41B85}"/>
              </a:ext>
            </a:extLst>
          </p:cNvPr>
          <p:cNvCxnSpPr>
            <a:cxnSpLocks/>
            <a:endCxn id="69" idx="2"/>
          </p:cNvCxnSpPr>
          <p:nvPr/>
        </p:nvCxnSpPr>
        <p:spPr>
          <a:xfrm rot="5400000" flipH="1" flipV="1">
            <a:off x="8788402" y="3647812"/>
            <a:ext cx="1047616" cy="424418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1">
            <a:extLst>
              <a:ext uri="{FF2B5EF4-FFF2-40B4-BE49-F238E27FC236}">
                <a16:creationId xmlns:a16="http://schemas.microsoft.com/office/drawing/2014/main" id="{0F17D78B-1C5E-E6F3-EFC2-7B9938763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6591" y="-30862"/>
            <a:ext cx="183666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导入</a:t>
            </a:r>
            <a:r>
              <a:rPr kumimoji="0" lang="en-US" altLang="zh-CN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/</a:t>
            </a: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导出配置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你可以导入导出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URL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与别名设定，在用户之间共享。支持智能合并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140174BE-0865-9B98-C77A-2DB035836FE5}"/>
              </a:ext>
            </a:extLst>
          </p:cNvPr>
          <p:cNvCxnSpPr>
            <a:cxnSpLocks/>
            <a:stCxn id="41" idx="3"/>
            <a:endCxn id="49" idx="0"/>
          </p:cNvCxnSpPr>
          <p:nvPr/>
        </p:nvCxnSpPr>
        <p:spPr>
          <a:xfrm>
            <a:off x="6957932" y="2514937"/>
            <a:ext cx="4180405" cy="807281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CA9B5D49-B1F2-88A7-01F7-44E354C88A7A}"/>
              </a:ext>
            </a:extLst>
          </p:cNvPr>
          <p:cNvSpPr/>
          <p:nvPr/>
        </p:nvSpPr>
        <p:spPr>
          <a:xfrm>
            <a:off x="9135810" y="873774"/>
            <a:ext cx="553117" cy="26455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5C3F6F25-633E-A40C-49F4-5B5BDE8DD9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743" y="335744"/>
            <a:ext cx="1989260" cy="2027118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AF39335-BC07-97B7-1933-2AFE3AA32B6A}"/>
              </a:ext>
            </a:extLst>
          </p:cNvPr>
          <p:cNvCxnSpPr>
            <a:cxnSpLocks/>
          </p:cNvCxnSpPr>
          <p:nvPr/>
        </p:nvCxnSpPr>
        <p:spPr>
          <a:xfrm flipH="1" flipV="1">
            <a:off x="9681633" y="999068"/>
            <a:ext cx="498065" cy="8638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">
            <a:extLst>
              <a:ext uri="{FF2B5EF4-FFF2-40B4-BE49-F238E27FC236}">
                <a16:creationId xmlns:a16="http://schemas.microsoft.com/office/drawing/2014/main" id="{75DB88B1-0314-9BF8-FBC2-285F838B9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2676" y="1233246"/>
            <a:ext cx="12433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清空设定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点击废纸篓以清空设定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F0783BA-EF55-C39A-EBA9-2CB45FBE331E}"/>
              </a:ext>
            </a:extLst>
          </p:cNvPr>
          <p:cNvCxnSpPr>
            <a:cxnSpLocks/>
          </p:cNvCxnSpPr>
          <p:nvPr/>
        </p:nvCxnSpPr>
        <p:spPr>
          <a:xfrm flipH="1">
            <a:off x="9135810" y="1495017"/>
            <a:ext cx="222794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1">
            <a:extLst>
              <a:ext uri="{FF2B5EF4-FFF2-40B4-BE49-F238E27FC236}">
                <a16:creationId xmlns:a16="http://schemas.microsoft.com/office/drawing/2014/main" id="{D969903C-973F-9E9B-E7CC-28C70BBB2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845" y="3174265"/>
            <a:ext cx="18366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显示头像来源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显示你的头像来源。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优先级：本地上传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&gt;URL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EA6C2EB-C28C-2836-71A0-C1B5FB1BCFC5}"/>
              </a:ext>
            </a:extLst>
          </p:cNvPr>
          <p:cNvCxnSpPr>
            <a:cxnSpLocks/>
          </p:cNvCxnSpPr>
          <p:nvPr/>
        </p:nvCxnSpPr>
        <p:spPr>
          <a:xfrm flipH="1">
            <a:off x="6223737" y="3491853"/>
            <a:ext cx="411182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8A607DC9-A1C6-0015-FDC8-C603AA4D4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851" y="5095836"/>
            <a:ext cx="18366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在场符号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当前在场角色的左上角会显示小圆点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F469BA-4C21-2767-4156-EB5D57972BF4}"/>
              </a:ext>
            </a:extLst>
          </p:cNvPr>
          <p:cNvCxnSpPr>
            <a:cxnSpLocks/>
          </p:cNvCxnSpPr>
          <p:nvPr/>
        </p:nvCxnSpPr>
        <p:spPr>
          <a:xfrm flipH="1">
            <a:off x="3023818" y="5395455"/>
            <a:ext cx="182033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33DA6F-22AF-C9FD-8DF5-7890E94D5458}"/>
              </a:ext>
            </a:extLst>
          </p:cNvPr>
          <p:cNvSpPr/>
          <p:nvPr/>
        </p:nvSpPr>
        <p:spPr>
          <a:xfrm>
            <a:off x="558960" y="3653847"/>
            <a:ext cx="330040" cy="175654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41AFB4CD-91F2-138C-861C-6947F271B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91" y="2725872"/>
            <a:ext cx="19757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过滤人物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开启后仅显示在场人物或仅显示与主角相关的人物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DCCE03-E71C-FD09-266B-4D8FF333C13D}"/>
              </a:ext>
            </a:extLst>
          </p:cNvPr>
          <p:cNvCxnSpPr>
            <a:cxnSpLocks/>
          </p:cNvCxnSpPr>
          <p:nvPr/>
        </p:nvCxnSpPr>
        <p:spPr>
          <a:xfrm>
            <a:off x="740942" y="3429881"/>
            <a:ext cx="0" cy="196655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513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7DAC25-3681-2C2A-1AB0-A5B7DE31F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70" y="1639685"/>
            <a:ext cx="2682394" cy="4941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13647F-FB90-41A8-38A7-C86B8FD43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" y="136801"/>
            <a:ext cx="7090781" cy="114299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EC6E64-EE8B-BC6A-5685-47FC699A8DA1}"/>
              </a:ext>
            </a:extLst>
          </p:cNvPr>
          <p:cNvSpPr/>
          <p:nvPr/>
        </p:nvSpPr>
        <p:spPr>
          <a:xfrm>
            <a:off x="6756190" y="808727"/>
            <a:ext cx="283843" cy="346973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F6C29A7-4BD4-7F0D-B6DC-6BAC9A9D0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825" y="401801"/>
            <a:ext cx="2131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设置页面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点击进入插件的主设置页面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89018-B7DE-382D-CBE1-172F4306442F}"/>
              </a:ext>
            </a:extLst>
          </p:cNvPr>
          <p:cNvCxnSpPr>
            <a:cxnSpLocks/>
          </p:cNvCxnSpPr>
          <p:nvPr/>
        </p:nvCxnSpPr>
        <p:spPr>
          <a:xfrm flipH="1">
            <a:off x="1890833" y="5330640"/>
            <a:ext cx="378844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1FE7BE-DBC7-64D3-34E7-4660804697DA}"/>
              </a:ext>
            </a:extLst>
          </p:cNvPr>
          <p:cNvSpPr/>
          <p:nvPr/>
        </p:nvSpPr>
        <p:spPr>
          <a:xfrm>
            <a:off x="2269677" y="4786489"/>
            <a:ext cx="242777" cy="1699764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03D57D5B-7C80-9DDE-D9C7-E974960F0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4" y="5171911"/>
            <a:ext cx="213177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</a:t>
            </a:r>
            <a:r>
              <a:rPr kumimoji="0" lang="en-US" altLang="zh-CN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/</a:t>
            </a: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隐藏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点击眼睛图标来显示或隐藏特定功能或表格，推荐隐藏选项表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D7E089-979F-29EE-6BA5-883391E9AE35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648831" y="5529265"/>
            <a:ext cx="289912" cy="2894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D1F0A82-5F00-A138-A8FE-141D3398D22E}"/>
              </a:ext>
            </a:extLst>
          </p:cNvPr>
          <p:cNvSpPr/>
          <p:nvPr/>
        </p:nvSpPr>
        <p:spPr>
          <a:xfrm>
            <a:off x="4286594" y="4721986"/>
            <a:ext cx="343111" cy="1764267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B565828C-5789-339F-7208-DB3A3BCC8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43" y="5082989"/>
            <a:ext cx="173307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排序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拖拽不同的功能或表格来调整它们在导航盘中的出现顺序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C1EF25CD-A35F-6406-1CEB-E82011CB4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486" y="2658808"/>
            <a:ext cx="213177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选项设置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设置是否要读取选项表中的内容来作为快捷指令，显示在聊天中。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设置快捷指令点击后是否直接发送给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AI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63F3B69-9A73-96D6-4E75-1A9F3C04A79A}"/>
              </a:ext>
            </a:extLst>
          </p:cNvPr>
          <p:cNvCxnSpPr>
            <a:cxnSpLocks/>
          </p:cNvCxnSpPr>
          <p:nvPr/>
        </p:nvCxnSpPr>
        <p:spPr>
          <a:xfrm flipH="1">
            <a:off x="4460375" y="3290705"/>
            <a:ext cx="343111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60C2CCC-9BC4-38AD-A36D-E689EA7636C1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3478952" y="982214"/>
            <a:ext cx="3277239" cy="616382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5088AE77-582C-2DBE-01FC-64733DC585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825" y="1449806"/>
            <a:ext cx="2523128" cy="5183523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034E8FF-A21A-3E74-145A-45ED3C3C88BA}"/>
              </a:ext>
            </a:extLst>
          </p:cNvPr>
          <p:cNvCxnSpPr>
            <a:cxnSpLocks/>
            <a:stCxn id="29" idx="0"/>
            <a:endCxn id="9" idx="3"/>
          </p:cNvCxnSpPr>
          <p:nvPr/>
        </p:nvCxnSpPr>
        <p:spPr>
          <a:xfrm rot="16200000" flipV="1">
            <a:off x="7473915" y="548332"/>
            <a:ext cx="467592" cy="1335356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">
            <a:extLst>
              <a:ext uri="{FF2B5EF4-FFF2-40B4-BE49-F238E27FC236}">
                <a16:creationId xmlns:a16="http://schemas.microsoft.com/office/drawing/2014/main" id="{6CCE7B24-1F90-000D-CA37-7BC35F14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5517" y="2529167"/>
            <a:ext cx="21317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视觉设置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更改主题颜色、字体、字体大小、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UI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布局等视觉设置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8FCE102-B401-207A-CFD5-04D2A3820419}"/>
              </a:ext>
            </a:extLst>
          </p:cNvPr>
          <p:cNvSpPr/>
          <p:nvPr/>
        </p:nvSpPr>
        <p:spPr>
          <a:xfrm>
            <a:off x="7223777" y="1863248"/>
            <a:ext cx="763139" cy="32524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187C843-04E7-F48D-AF51-E23767C8F5B4}"/>
              </a:ext>
            </a:extLst>
          </p:cNvPr>
          <p:cNvSpPr/>
          <p:nvPr/>
        </p:nvSpPr>
        <p:spPr>
          <a:xfrm>
            <a:off x="7223776" y="2221063"/>
            <a:ext cx="763139" cy="32524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CFCB235-CF93-428A-27B7-E623CA7C3D90}"/>
              </a:ext>
            </a:extLst>
          </p:cNvPr>
          <p:cNvSpPr/>
          <p:nvPr/>
        </p:nvSpPr>
        <p:spPr>
          <a:xfrm>
            <a:off x="7223775" y="4101951"/>
            <a:ext cx="763139" cy="32524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5484AE4-42F6-8D5D-63B8-19ABEC165455}"/>
              </a:ext>
            </a:extLst>
          </p:cNvPr>
          <p:cNvCxnSpPr>
            <a:cxnSpLocks/>
            <a:stCxn id="37" idx="3"/>
            <a:endCxn id="36" idx="1"/>
          </p:cNvCxnSpPr>
          <p:nvPr/>
        </p:nvCxnSpPr>
        <p:spPr>
          <a:xfrm>
            <a:off x="7986916" y="2025871"/>
            <a:ext cx="1828601" cy="857239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C604B22-49D6-4A0E-9F43-A733640FA570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7986915" y="2383686"/>
            <a:ext cx="914301" cy="499424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714D4E6-CD99-ACDB-FF1B-C08E2D939F17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7986914" y="2877999"/>
            <a:ext cx="457151" cy="1386575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322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A238-482F-2285-0E56-00E19398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5DAE7-B1FF-7512-89EA-319B041F7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326" y="1076279"/>
            <a:ext cx="6566183" cy="418628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BEA052-8832-BF85-0945-109497E89841}"/>
              </a:ext>
            </a:extLst>
          </p:cNvPr>
          <p:cNvSpPr/>
          <p:nvPr/>
        </p:nvSpPr>
        <p:spPr>
          <a:xfrm>
            <a:off x="7680695" y="1171969"/>
            <a:ext cx="326177" cy="35770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CF9A299-D3B2-8062-F811-5E3530E5B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415" y="174711"/>
            <a:ext cx="377243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数据验证模式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通过审核面板右上角的过滤器图标来进入数据验证模式。数据验证模式下审核面板仅显示违反特定规则的条目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2251A37-361B-26E2-4985-FD89B827F103}"/>
              </a:ext>
            </a:extLst>
          </p:cNvPr>
          <p:cNvCxnSpPr>
            <a:cxnSpLocks/>
            <a:stCxn id="6" idx="3"/>
            <a:endCxn id="4" idx="0"/>
          </p:cNvCxnSpPr>
          <p:nvPr/>
        </p:nvCxnSpPr>
        <p:spPr>
          <a:xfrm>
            <a:off x="7482846" y="620987"/>
            <a:ext cx="360938" cy="550982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1">
            <a:extLst>
              <a:ext uri="{FF2B5EF4-FFF2-40B4-BE49-F238E27FC236}">
                <a16:creationId xmlns:a16="http://schemas.microsoft.com/office/drawing/2014/main" id="{4D880A84-9A05-C526-1F0A-C659BA688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867" y="1410499"/>
            <a:ext cx="2131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违反规则显示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在此显示违反的具体规则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AFEA9A8-E1FC-C82A-5EAE-8A7F5309D480}"/>
              </a:ext>
            </a:extLst>
          </p:cNvPr>
          <p:cNvCxnSpPr>
            <a:cxnSpLocks/>
          </p:cNvCxnSpPr>
          <p:nvPr/>
        </p:nvCxnSpPr>
        <p:spPr>
          <a:xfrm flipV="1">
            <a:off x="6509748" y="1933719"/>
            <a:ext cx="0" cy="19725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84C6FD8-3D0F-8CD8-6E6F-B2097B905A22}"/>
              </a:ext>
            </a:extLst>
          </p:cNvPr>
          <p:cNvCxnSpPr>
            <a:cxnSpLocks/>
          </p:cNvCxnSpPr>
          <p:nvPr/>
        </p:nvCxnSpPr>
        <p:spPr>
          <a:xfrm flipH="1">
            <a:off x="1631244" y="2706819"/>
            <a:ext cx="270932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D089DD0-8353-6173-3335-13916CDFCF23}"/>
              </a:ext>
            </a:extLst>
          </p:cNvPr>
          <p:cNvSpPr/>
          <p:nvPr/>
        </p:nvSpPr>
        <p:spPr>
          <a:xfrm>
            <a:off x="3546569" y="4177709"/>
            <a:ext cx="986578" cy="35136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97FB5B2E-D7E9-39CB-A167-F938CF2C4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61" y="5397471"/>
            <a:ext cx="22506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非法数据计数</a:t>
            </a:r>
            <a:endParaRPr kumimoji="0" lang="en-US" altLang="zh-CN" sz="12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显示违反数据规则的数据总条数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7A75814-900A-29BA-DC29-2E52D1EDF16B}"/>
              </a:ext>
            </a:extLst>
          </p:cNvPr>
          <p:cNvCxnSpPr>
            <a:cxnSpLocks/>
          </p:cNvCxnSpPr>
          <p:nvPr/>
        </p:nvCxnSpPr>
        <p:spPr>
          <a:xfrm>
            <a:off x="8487966" y="2571606"/>
            <a:ext cx="303751" cy="482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1">
            <a:extLst>
              <a:ext uri="{FF2B5EF4-FFF2-40B4-BE49-F238E27FC236}">
                <a16:creationId xmlns:a16="http://schemas.microsoft.com/office/drawing/2014/main" id="{91BEE231-0586-A6BE-AF22-550DA760F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489" y="5397471"/>
            <a:ext cx="2250691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回滚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点击旋转箭头以回滚到上一轮的值。注意！数据验证模式仅判断值是否符合规则，如果回滚的值是错误的，那么仍然会显示警告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F5FFFA73-E5B2-F5AF-8104-ECD00A72E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659" y="3007656"/>
            <a:ext cx="2721830" cy="2743758"/>
          </a:xfrm>
          <a:prstGeom prst="rect">
            <a:avLst/>
          </a:prstGeom>
        </p:spPr>
      </p:pic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B93AF1C2-8CE6-B7D6-4C5C-49DF35B2B280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437180" y="3881535"/>
            <a:ext cx="633800" cy="2146878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975CE4D-5F59-EFBB-E854-0BDAFACD5CBF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4039858" y="4529075"/>
            <a:ext cx="0" cy="817366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">
            <a:extLst>
              <a:ext uri="{FF2B5EF4-FFF2-40B4-BE49-F238E27FC236}">
                <a16:creationId xmlns:a16="http://schemas.microsoft.com/office/drawing/2014/main" id="{F1BE3880-2255-3C8F-457D-FFF97CA30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659" y="2080542"/>
            <a:ext cx="308385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智能修改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修改功能支持手动修改与智能修改，</a:t>
            </a:r>
            <a:endParaRPr kumimoji="0" lang="en-US" altLang="zh-CN" sz="12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智能修改会根据规则提供可能正确的修改选择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86272E2-AD15-FD0B-D792-2AFF978AA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3" y="2130969"/>
            <a:ext cx="184874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非法数据详情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显示非法数据详情。格式为表名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.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列名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.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数据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例：主角信息，所在地点，前往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947063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A35EC-9137-C406-D63E-B59F86ED8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C802F7B-3687-BC70-BA6B-60793DC2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78" y="501264"/>
            <a:ext cx="3199101" cy="5759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FFDF74-8EFC-011F-D389-D26097442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479" y="486831"/>
            <a:ext cx="3460412" cy="5006163"/>
          </a:xfrm>
          <a:prstGeom prst="rect">
            <a:avLst/>
          </a:prstGeom>
        </p:spPr>
      </p:pic>
      <p:sp>
        <p:nvSpPr>
          <p:cNvPr id="126" name="Rectangle 1">
            <a:extLst>
              <a:ext uri="{FF2B5EF4-FFF2-40B4-BE49-F238E27FC236}">
                <a16:creationId xmlns:a16="http://schemas.microsoft.com/office/drawing/2014/main" id="{E203D2A0-E160-0B8F-2131-73903C9A9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84" y="1512482"/>
            <a:ext cx="158063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验证规则预设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通过导航盘的齿轮图标进入数据验证规则设置界面。规则预设规则支持复制、新建、删除、导入、导出以及恢复默认预设功能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90B5EB2-A64B-18C7-6A4B-31C95D85484F}"/>
              </a:ext>
            </a:extLst>
          </p:cNvPr>
          <p:cNvCxnSpPr>
            <a:cxnSpLocks/>
          </p:cNvCxnSpPr>
          <p:nvPr/>
        </p:nvCxnSpPr>
        <p:spPr>
          <a:xfrm flipH="1">
            <a:off x="1662308" y="2190352"/>
            <a:ext cx="270932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085E30A-9E03-21CD-3CE6-23A43B29ED9E}"/>
              </a:ext>
            </a:extLst>
          </p:cNvPr>
          <p:cNvCxnSpPr>
            <a:cxnSpLocks/>
          </p:cNvCxnSpPr>
          <p:nvPr/>
        </p:nvCxnSpPr>
        <p:spPr>
          <a:xfrm flipV="1">
            <a:off x="4108753" y="1449523"/>
            <a:ext cx="0" cy="218951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">
            <a:extLst>
              <a:ext uri="{FF2B5EF4-FFF2-40B4-BE49-F238E27FC236}">
                <a16:creationId xmlns:a16="http://schemas.microsoft.com/office/drawing/2014/main" id="{9A982BFE-B29B-FD0F-5A22-EA7097A18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345" y="754886"/>
            <a:ext cx="15806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默认规则预设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默认规则预设以同捆表格模板为基础构造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35" name="Rectangle 1">
            <a:extLst>
              <a:ext uri="{FF2B5EF4-FFF2-40B4-BE49-F238E27FC236}">
                <a16:creationId xmlns:a16="http://schemas.microsoft.com/office/drawing/2014/main" id="{3C8EEDD2-D015-C665-81E5-904D61FF5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82" y="4377051"/>
            <a:ext cx="1580634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个别规则设置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数据验证规则支持单条修改、开关、与删除。盾牌图标开启时将自动回滚错误的数据更新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36" name="Rectangle 1">
            <a:extLst>
              <a:ext uri="{FF2B5EF4-FFF2-40B4-BE49-F238E27FC236}">
                <a16:creationId xmlns:a16="http://schemas.microsoft.com/office/drawing/2014/main" id="{C79991F5-999C-3597-D88A-52B690FCF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72" y="3285713"/>
            <a:ext cx="15806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个别规则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显示规则名与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作用表名、列名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0980B62-B05A-05B7-FB8E-33E957060F6E}"/>
              </a:ext>
            </a:extLst>
          </p:cNvPr>
          <p:cNvCxnSpPr>
            <a:cxnSpLocks/>
          </p:cNvCxnSpPr>
          <p:nvPr/>
        </p:nvCxnSpPr>
        <p:spPr>
          <a:xfrm flipH="1">
            <a:off x="1624924" y="3574653"/>
            <a:ext cx="270932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C753B5F-D0C0-C8C0-5692-91411B5CC892}"/>
              </a:ext>
            </a:extLst>
          </p:cNvPr>
          <p:cNvCxnSpPr>
            <a:cxnSpLocks/>
            <a:stCxn id="135" idx="2"/>
            <a:endCxn id="33" idx="2"/>
          </p:cNvCxnSpPr>
          <p:nvPr/>
        </p:nvCxnSpPr>
        <p:spPr>
          <a:xfrm rot="5400000" flipH="1" flipV="1">
            <a:off x="2252746" y="3668897"/>
            <a:ext cx="680291" cy="3259786"/>
          </a:xfrm>
          <a:prstGeom prst="bentConnector3">
            <a:avLst>
              <a:gd name="adj1" fmla="val -33603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8346D6B-C160-E112-3A4C-1AE6F52773B3}"/>
              </a:ext>
            </a:extLst>
          </p:cNvPr>
          <p:cNvCxnSpPr>
            <a:cxnSpLocks/>
          </p:cNvCxnSpPr>
          <p:nvPr/>
        </p:nvCxnSpPr>
        <p:spPr>
          <a:xfrm>
            <a:off x="8364915" y="812563"/>
            <a:ext cx="204651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9EC9131A-B8CA-AC57-1CF5-5525097F8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9566" y="486831"/>
            <a:ext cx="25887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添加自定义验证规则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用于逐条增加自定义验证规则。当表格数据发生违反规则的更新时，会显示在数据验证面板中。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3D4B4F8-6240-7E55-36F3-89D9CDA6C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9565" y="1668474"/>
            <a:ext cx="25887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配置规则的适用范围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选择本条规则将作用于哪个表、哪个列之上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+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A7738C-531C-DB0F-7AAB-DE97C30019C6}"/>
              </a:ext>
            </a:extLst>
          </p:cNvPr>
          <p:cNvCxnSpPr>
            <a:cxnSpLocks/>
          </p:cNvCxnSpPr>
          <p:nvPr/>
        </p:nvCxnSpPr>
        <p:spPr>
          <a:xfrm>
            <a:off x="8364915" y="1980099"/>
            <a:ext cx="204651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A48893AA-2F49-5C3E-B777-B66214EA1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6029" y="5941811"/>
            <a:ext cx="22055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配置错误提示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显示当数据更新出错时在审核面板显示的错误信息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7E0EE6E6-E1DE-BF7C-CB44-A4D4BC836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9565" y="2839367"/>
            <a:ext cx="174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规则类型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右图为现在支持的规则类型。格式验证支持自定义正则，关联验证支持读取表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A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的某个值来检验表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B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。例如，地图元素表的所在地点必须属于世界地图点中的详细设置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19435A-E904-D543-BA5A-1B1EB8B1C7C5}"/>
              </a:ext>
            </a:extLst>
          </p:cNvPr>
          <p:cNvCxnSpPr>
            <a:cxnSpLocks/>
          </p:cNvCxnSpPr>
          <p:nvPr/>
        </p:nvCxnSpPr>
        <p:spPr>
          <a:xfrm>
            <a:off x="8288684" y="3207251"/>
            <a:ext cx="204651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DF45E2-CD07-F50D-5527-24A5CFB2AA4F}"/>
              </a:ext>
            </a:extLst>
          </p:cNvPr>
          <p:cNvSpPr/>
          <p:nvPr/>
        </p:nvSpPr>
        <p:spPr>
          <a:xfrm>
            <a:off x="3606871" y="2675455"/>
            <a:ext cx="1231828" cy="2283189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A6C10-055C-2644-8D9E-C06E85DCE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906" y="2985932"/>
            <a:ext cx="1587488" cy="2810912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EA31EAB-9342-8394-8984-3966C0D50B1E}"/>
              </a:ext>
            </a:extLst>
          </p:cNvPr>
          <p:cNvCxnSpPr>
            <a:cxnSpLocks/>
            <a:stCxn id="12" idx="0"/>
          </p:cNvCxnSpPr>
          <p:nvPr/>
        </p:nvCxnSpPr>
        <p:spPr>
          <a:xfrm rot="5400000" flipH="1" flipV="1">
            <a:off x="6210758" y="4858537"/>
            <a:ext cx="1361344" cy="805205"/>
          </a:xfrm>
          <a:prstGeom prst="bentConnector3">
            <a:avLst>
              <a:gd name="adj1" fmla="val 25744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774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6802-4A52-37C3-3C7B-D646587C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CDB6D69-C605-D98D-42AA-B5B7ED3F5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061" y="309248"/>
            <a:ext cx="3581108" cy="37117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5519A1-6AF1-608F-3EEB-6C6E69B9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44" y="886409"/>
            <a:ext cx="4689846" cy="3134628"/>
          </a:xfrm>
          <a:prstGeom prst="rect">
            <a:avLst/>
          </a:prstGeom>
        </p:spPr>
      </p:pic>
      <p:sp>
        <p:nvSpPr>
          <p:cNvPr id="136" name="Rectangle 1">
            <a:extLst>
              <a:ext uri="{FF2B5EF4-FFF2-40B4-BE49-F238E27FC236}">
                <a16:creationId xmlns:a16="http://schemas.microsoft.com/office/drawing/2014/main" id="{5AD512B8-7999-EDA8-A164-00347AA85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962" y="286394"/>
            <a:ext cx="38383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交互规则管理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编辑、开关、复制、下载、新建交互规则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E6193C3-500F-30B1-45B0-899378E7D30E}"/>
              </a:ext>
            </a:extLst>
          </p:cNvPr>
          <p:cNvCxnSpPr>
            <a:cxnSpLocks/>
          </p:cNvCxnSpPr>
          <p:nvPr/>
        </p:nvCxnSpPr>
        <p:spPr>
          <a:xfrm flipV="1">
            <a:off x="2876777" y="809614"/>
            <a:ext cx="0" cy="31102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">
            <a:extLst>
              <a:ext uri="{FF2B5EF4-FFF2-40B4-BE49-F238E27FC236}">
                <a16:creationId xmlns:a16="http://schemas.microsoft.com/office/drawing/2014/main" id="{3AD3E708-0A55-179E-2A36-186205534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696" y="1513772"/>
            <a:ext cx="3838314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规则配置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请参考内置规则来学习如何自定义规则配置。你可以指定生效表名的关键词，交互选项的的名称，以及发送到输入栏中的提示词格式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434FA6C-A8B9-4DEE-2A6B-0EE75BCFF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44" y="4289560"/>
            <a:ext cx="3362535" cy="2347028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A91B797D-B6C0-3771-DD2F-4A09D022E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382" y="4871618"/>
            <a:ext cx="383831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默认交互规则示例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默认交互规则中，对于所有表名中包含“地点”的表，会为每一个卡片生成“前往”“探索”“停留”的交互选项。点击时发送“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&lt;user&gt;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前往第一列列名（也就是图中的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1F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会客厅）”到输入框。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3A0D230-A529-382E-4E53-92D254045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382" y="6021277"/>
            <a:ext cx="2290216" cy="550329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1DDD9DF-8A82-A8D3-B1BA-389846296B8A}"/>
              </a:ext>
            </a:extLst>
          </p:cNvPr>
          <p:cNvSpPr/>
          <p:nvPr/>
        </p:nvSpPr>
        <p:spPr>
          <a:xfrm>
            <a:off x="453644" y="6296441"/>
            <a:ext cx="1701728" cy="27516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055BB60D-3BFE-D3BE-D8CC-14D1B1E12BB7}"/>
              </a:ext>
            </a:extLst>
          </p:cNvPr>
          <p:cNvCxnSpPr>
            <a:cxnSpLocks/>
            <a:stCxn id="32" idx="3"/>
            <a:endCxn id="24" idx="1"/>
          </p:cNvCxnSpPr>
          <p:nvPr/>
        </p:nvCxnSpPr>
        <p:spPr>
          <a:xfrm flipV="1">
            <a:off x="2155372" y="5410227"/>
            <a:ext cx="1843010" cy="1023797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492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842474-E963-0CF6-F4D8-9E905D250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132"/>
            <a:ext cx="5082091" cy="384108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94182B2-B18D-F67C-3C3B-C8CDDD06D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524" y="2659752"/>
            <a:ext cx="4020551" cy="134482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6083F04-ECB2-BBB6-A113-D0DC039FE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904" y="761371"/>
            <a:ext cx="4747922" cy="233735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4625ED-EDA5-7705-2705-1F6F56AC38BD}"/>
              </a:ext>
            </a:extLst>
          </p:cNvPr>
          <p:cNvCxnSpPr>
            <a:cxnSpLocks/>
          </p:cNvCxnSpPr>
          <p:nvPr/>
        </p:nvCxnSpPr>
        <p:spPr>
          <a:xfrm>
            <a:off x="1950149" y="4640818"/>
            <a:ext cx="0" cy="586297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005DCACB-58FC-919D-F8F1-6CE91DAE3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773" y="5227115"/>
            <a:ext cx="24216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变量面板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点击“变量”标签打开变量模板，支持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MVU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与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ERA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的变量格式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619B88F-C095-511E-7592-0DDBE1B6E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3954" y="113008"/>
            <a:ext cx="2421656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刷新变量数据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当你无法正确读取到变量数据时，尝试手动刷新按钮或开关变量面板以获取数据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F333E92-63F8-5FDE-3ECC-C27C5F0649EB}"/>
              </a:ext>
            </a:extLst>
          </p:cNvPr>
          <p:cNvCxnSpPr>
            <a:cxnSpLocks/>
            <a:endCxn id="11" idx="3"/>
          </p:cNvCxnSpPr>
          <p:nvPr/>
        </p:nvCxnSpPr>
        <p:spPr>
          <a:xfrm rot="16200000" flipV="1">
            <a:off x="4016359" y="778535"/>
            <a:ext cx="949158" cy="510655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CE3D2EB-38B7-ACBC-C39D-DA3027911C25}"/>
              </a:ext>
            </a:extLst>
          </p:cNvPr>
          <p:cNvCxnSpPr>
            <a:cxnSpLocks/>
            <a:endCxn id="24" idx="2"/>
          </p:cNvCxnSpPr>
          <p:nvPr/>
        </p:nvCxnSpPr>
        <p:spPr>
          <a:xfrm rot="10800000" flipV="1">
            <a:off x="4561434" y="568429"/>
            <a:ext cx="1420267" cy="1126218"/>
          </a:xfrm>
          <a:prstGeom prst="bentConnector4">
            <a:avLst>
              <a:gd name="adj1" fmla="val 47106"/>
              <a:gd name="adj2" fmla="val 120298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">
            <a:extLst>
              <a:ext uri="{FF2B5EF4-FFF2-40B4-BE49-F238E27FC236}">
                <a16:creationId xmlns:a16="http://schemas.microsoft.com/office/drawing/2014/main" id="{B22E4820-D242-B30E-A440-1F33631B8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008" y="227471"/>
            <a:ext cx="533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变量数值模式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点击进入变量数值，将只显示数值不为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0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、且不被变量黑名单过滤的值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A6FB95-7E05-7F8E-A264-087E84E470EB}"/>
              </a:ext>
            </a:extLst>
          </p:cNvPr>
          <p:cNvSpPr/>
          <p:nvPr/>
        </p:nvSpPr>
        <p:spPr>
          <a:xfrm>
            <a:off x="4479231" y="1508442"/>
            <a:ext cx="164403" cy="186205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E2971D00-8B8C-1CC4-C27B-B963A185F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575" y="3098723"/>
            <a:ext cx="2421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编辑变量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点击任一变量进行编辑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36ACC2-833A-D52F-454B-C8A421B74C91}"/>
              </a:ext>
            </a:extLst>
          </p:cNvPr>
          <p:cNvSpPr/>
          <p:nvPr/>
        </p:nvSpPr>
        <p:spPr>
          <a:xfrm>
            <a:off x="696986" y="2602045"/>
            <a:ext cx="175425" cy="183144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C030496-7A00-6958-FB96-23816B158849}"/>
              </a:ext>
            </a:extLst>
          </p:cNvPr>
          <p:cNvCxnSpPr>
            <a:cxnSpLocks/>
          </p:cNvCxnSpPr>
          <p:nvPr/>
        </p:nvCxnSpPr>
        <p:spPr>
          <a:xfrm>
            <a:off x="1069616" y="1465383"/>
            <a:ext cx="0" cy="365941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">
            <a:extLst>
              <a:ext uri="{FF2B5EF4-FFF2-40B4-BE49-F238E27FC236}">
                <a16:creationId xmlns:a16="http://schemas.microsoft.com/office/drawing/2014/main" id="{81945010-384B-5A54-0D4C-2C466C8E7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7" y="736645"/>
            <a:ext cx="24216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快捷检定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对于包含数值的变量，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点击骰子图标进行快捷检定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035CC76-BC5A-90B7-2F25-D390983A5078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872412" y="2685516"/>
            <a:ext cx="865112" cy="646649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4E24E8E6-D992-7280-5784-D350362E3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032" y="3231639"/>
            <a:ext cx="4731369" cy="2337353"/>
          </a:xfrm>
          <a:prstGeom prst="rect">
            <a:avLst/>
          </a:prstGeom>
        </p:spPr>
      </p:pic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9C506307-00EF-3E61-1B26-38C523937E53}"/>
              </a:ext>
            </a:extLst>
          </p:cNvPr>
          <p:cNvCxnSpPr>
            <a:cxnSpLocks/>
            <a:stCxn id="66" idx="2"/>
            <a:endCxn id="63" idx="3"/>
          </p:cNvCxnSpPr>
          <p:nvPr/>
        </p:nvCxnSpPr>
        <p:spPr>
          <a:xfrm rot="16200000" flipH="1">
            <a:off x="8827871" y="4990915"/>
            <a:ext cx="1831390" cy="545689"/>
          </a:xfrm>
          <a:prstGeom prst="bentConnector4">
            <a:avLst>
              <a:gd name="adj1" fmla="val 35295"/>
              <a:gd name="adj2" fmla="val 141892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">
            <a:extLst>
              <a:ext uri="{FF2B5EF4-FFF2-40B4-BE49-F238E27FC236}">
                <a16:creationId xmlns:a16="http://schemas.microsoft.com/office/drawing/2014/main" id="{8AF36C71-B2E5-0A0B-C65A-384CE157F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188" y="5640846"/>
            <a:ext cx="276222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显示层级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开关显示层级来简化变量面板中的变量路径。示例中关闭了“角色列表”层级，因此“角色列表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&gt;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索拉里奥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”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的变量路径被简化为“索拉里奥”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AFB6169-BFCB-6248-1DF7-29E5C387AD4F}"/>
              </a:ext>
            </a:extLst>
          </p:cNvPr>
          <p:cNvSpPr/>
          <p:nvPr/>
        </p:nvSpPr>
        <p:spPr>
          <a:xfrm>
            <a:off x="9265598" y="4128343"/>
            <a:ext cx="410247" cy="219722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8D54D21-C84C-A5B8-DCA1-3EC69EC9B289}"/>
              </a:ext>
            </a:extLst>
          </p:cNvPr>
          <p:cNvSpPr/>
          <p:nvPr/>
        </p:nvSpPr>
        <p:spPr>
          <a:xfrm>
            <a:off x="6219812" y="1465383"/>
            <a:ext cx="867148" cy="136161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6B64B07-9328-6982-29D9-C89F2496F7C7}"/>
              </a:ext>
            </a:extLst>
          </p:cNvPr>
          <p:cNvSpPr/>
          <p:nvPr/>
        </p:nvSpPr>
        <p:spPr>
          <a:xfrm>
            <a:off x="6165092" y="4640818"/>
            <a:ext cx="478304" cy="136455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2FD8E2E6-D6A5-BAA4-0663-E0732F73A23F}"/>
              </a:ext>
            </a:extLst>
          </p:cNvPr>
          <p:cNvCxnSpPr>
            <a:cxnSpLocks/>
            <a:stCxn id="69" idx="3"/>
            <a:endCxn id="66" idx="0"/>
          </p:cNvCxnSpPr>
          <p:nvPr/>
        </p:nvCxnSpPr>
        <p:spPr>
          <a:xfrm>
            <a:off x="7086960" y="1533464"/>
            <a:ext cx="2383762" cy="2594879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9473666A-E5EF-046B-0D25-6A20C871EF72}"/>
              </a:ext>
            </a:extLst>
          </p:cNvPr>
          <p:cNvCxnSpPr>
            <a:cxnSpLocks/>
            <a:stCxn id="70" idx="3"/>
            <a:endCxn id="66" idx="0"/>
          </p:cNvCxnSpPr>
          <p:nvPr/>
        </p:nvCxnSpPr>
        <p:spPr>
          <a:xfrm flipV="1">
            <a:off x="6643396" y="4128343"/>
            <a:ext cx="2827326" cy="580703"/>
          </a:xfrm>
          <a:prstGeom prst="bentConnector4">
            <a:avLst>
              <a:gd name="adj1" fmla="val 46372"/>
              <a:gd name="adj2" fmla="val 139366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10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6A47D-3AFD-6682-1F79-6936DAAE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64670-37C6-F7A7-83BE-750010AAB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89" y="196851"/>
            <a:ext cx="3540564" cy="63062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621D8D-DEDD-C3E8-5106-4C20FB570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591" y="766019"/>
            <a:ext cx="5761524" cy="3420508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9D54083-E59C-4F94-3F6E-F06D53F0F5E0}"/>
              </a:ext>
            </a:extLst>
          </p:cNvPr>
          <p:cNvCxnSpPr>
            <a:cxnSpLocks/>
            <a:stCxn id="17" idx="1"/>
            <a:endCxn id="10" idx="3"/>
          </p:cNvCxnSpPr>
          <p:nvPr/>
        </p:nvCxnSpPr>
        <p:spPr>
          <a:xfrm rot="10800000" flipV="1">
            <a:off x="4527505" y="2368781"/>
            <a:ext cx="725043" cy="3373793"/>
          </a:xfrm>
          <a:prstGeom prst="bentConnector3">
            <a:avLst>
              <a:gd name="adj1" fmla="val 66730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C517EF-677E-8ADA-8D1E-08BC2A13F193}"/>
              </a:ext>
            </a:extLst>
          </p:cNvPr>
          <p:cNvSpPr/>
          <p:nvPr/>
        </p:nvSpPr>
        <p:spPr>
          <a:xfrm>
            <a:off x="3737879" y="5593301"/>
            <a:ext cx="789625" cy="298548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F46D59-EB46-273B-0859-153F80947B76}"/>
              </a:ext>
            </a:extLst>
          </p:cNvPr>
          <p:cNvSpPr/>
          <p:nvPr/>
        </p:nvSpPr>
        <p:spPr>
          <a:xfrm>
            <a:off x="5252547" y="1808183"/>
            <a:ext cx="5045941" cy="1121198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32D52C6-F834-BAC9-D2A6-D18C1E718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431" y="150877"/>
            <a:ext cx="533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变量过滤黑名单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设置变量过滤黑名单来过滤掉不需要快捷检定的变量名。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503D874-F34C-BCE9-3E58-E802CB36F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129" y="4317125"/>
            <a:ext cx="4634946" cy="239846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B98C31-6C71-1AA1-53BB-B0656D0C76BC}"/>
              </a:ext>
            </a:extLst>
          </p:cNvPr>
          <p:cNvCxnSpPr>
            <a:cxnSpLocks/>
          </p:cNvCxnSpPr>
          <p:nvPr/>
        </p:nvCxnSpPr>
        <p:spPr>
          <a:xfrm>
            <a:off x="7765960" y="5453310"/>
            <a:ext cx="279918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7ED91E7-D757-4BEA-1CBD-49C06E09D10F}"/>
              </a:ext>
            </a:extLst>
          </p:cNvPr>
          <p:cNvSpPr/>
          <p:nvPr/>
        </p:nvSpPr>
        <p:spPr>
          <a:xfrm>
            <a:off x="5479811" y="5350689"/>
            <a:ext cx="2286149" cy="242611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CFBD5849-60F7-6119-58D2-D78894FB8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068" y="5070081"/>
            <a:ext cx="250608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变量过滤黑名单示例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由于“头像”变量名隶属于变量过滤黑名单，即使它的值包含数值，也不会渲染骰子图标进行快捷检定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0031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31A517-AE7F-5E2A-14FA-E689AAA31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801" y="584200"/>
            <a:ext cx="3095818" cy="567685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0DF36A0-84A0-1354-F01C-4DD4DD725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61" y="1471785"/>
            <a:ext cx="243551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正则转换规则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设置正则转换规则时，会自动修改数据库表格中所有相对应的数据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B63ADC-5B1C-1D2E-97E3-0B80F6AFB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055" y="584200"/>
            <a:ext cx="3222745" cy="467992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E6036D-8F1A-2DEC-AA0D-1A7B418B66ED}"/>
              </a:ext>
            </a:extLst>
          </p:cNvPr>
          <p:cNvSpPr/>
          <p:nvPr/>
        </p:nvSpPr>
        <p:spPr>
          <a:xfrm>
            <a:off x="2792487" y="2960489"/>
            <a:ext cx="1000580" cy="191955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93F07EB-66D1-6AF7-93D3-C771768B6E33}"/>
              </a:ext>
            </a:extLst>
          </p:cNvPr>
          <p:cNvCxnSpPr>
            <a:cxnSpLocks/>
            <a:stCxn id="9" idx="1"/>
            <a:endCxn id="6" idx="2"/>
          </p:cNvCxnSpPr>
          <p:nvPr/>
        </p:nvCxnSpPr>
        <p:spPr>
          <a:xfrm rot="10800000">
            <a:off x="1398417" y="2364337"/>
            <a:ext cx="1394070" cy="692130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8F1548-69FF-EC98-EF6F-AF4899EC2DE6}"/>
              </a:ext>
            </a:extLst>
          </p:cNvPr>
          <p:cNvCxnSpPr>
            <a:cxnSpLocks/>
          </p:cNvCxnSpPr>
          <p:nvPr/>
        </p:nvCxnSpPr>
        <p:spPr>
          <a:xfrm flipH="1">
            <a:off x="2425700" y="3928533"/>
            <a:ext cx="223236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">
            <a:extLst>
              <a:ext uri="{FF2B5EF4-FFF2-40B4-BE49-F238E27FC236}">
                <a16:creationId xmlns:a16="http://schemas.microsoft.com/office/drawing/2014/main" id="{864395F0-2C89-3605-4F1A-924B00125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46" y="3183253"/>
            <a:ext cx="188515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预设管理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克隆、新建、删除、导入、导出新的正则转换规则预设。点击最右侧的旋转箭头恢复默认预设。默认预设会在每次脚本内置预设更新时自动更新，与脚本使用不同的版本号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B5F7993-A62D-6B1D-D3E8-860E9EE84407}"/>
              </a:ext>
            </a:extLst>
          </p:cNvPr>
          <p:cNvCxnSpPr>
            <a:cxnSpLocks/>
            <a:stCxn id="30" idx="2"/>
            <a:endCxn id="25" idx="3"/>
          </p:cNvCxnSpPr>
          <p:nvPr/>
        </p:nvCxnSpPr>
        <p:spPr>
          <a:xfrm rot="5400000">
            <a:off x="2924722" y="5979186"/>
            <a:ext cx="243257" cy="671616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1">
            <a:extLst>
              <a:ext uri="{FF2B5EF4-FFF2-40B4-BE49-F238E27FC236}">
                <a16:creationId xmlns:a16="http://schemas.microsoft.com/office/drawing/2014/main" id="{21874B4F-1B1C-5B98-EF86-1396F3EA3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31" y="6082680"/>
            <a:ext cx="243551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正则转换规则条目管理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在当前正则预设中：添加、编辑、开关、或删除单条正则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E2944BD-B62B-5E8C-DDF0-B5D4AFB2785C}"/>
              </a:ext>
            </a:extLst>
          </p:cNvPr>
          <p:cNvSpPr/>
          <p:nvPr/>
        </p:nvSpPr>
        <p:spPr>
          <a:xfrm>
            <a:off x="4549321" y="4416755"/>
            <a:ext cx="996346" cy="1302470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82671B-5E81-5619-D4B2-9DA7A13BDCCA}"/>
              </a:ext>
            </a:extLst>
          </p:cNvPr>
          <p:cNvSpPr/>
          <p:nvPr/>
        </p:nvSpPr>
        <p:spPr>
          <a:xfrm>
            <a:off x="2899283" y="5842219"/>
            <a:ext cx="965749" cy="351147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1D64A57-8B78-0B83-56F0-125B7C67C275}"/>
              </a:ext>
            </a:extLst>
          </p:cNvPr>
          <p:cNvCxnSpPr>
            <a:cxnSpLocks/>
            <a:stCxn id="28" idx="1"/>
            <a:endCxn id="30" idx="3"/>
          </p:cNvCxnSpPr>
          <p:nvPr/>
        </p:nvCxnSpPr>
        <p:spPr>
          <a:xfrm rot="10800000" flipV="1">
            <a:off x="3865033" y="5067989"/>
            <a:ext cx="684289" cy="949803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4758DD-4CDE-C9C9-6B70-195D75DF26EE}"/>
              </a:ext>
            </a:extLst>
          </p:cNvPr>
          <p:cNvCxnSpPr>
            <a:cxnSpLocks/>
          </p:cNvCxnSpPr>
          <p:nvPr/>
        </p:nvCxnSpPr>
        <p:spPr>
          <a:xfrm>
            <a:off x="5329767" y="6017792"/>
            <a:ext cx="402166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">
            <a:extLst>
              <a:ext uri="{FF2B5EF4-FFF2-40B4-BE49-F238E27FC236}">
                <a16:creationId xmlns:a16="http://schemas.microsoft.com/office/drawing/2014/main" id="{D1632102-71C4-1D8D-2D37-BAF182CE2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8948" y="5713348"/>
            <a:ext cx="18851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导入酒馆正则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直接导入酒馆格式的正则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E0A91D-4FFB-AEF5-FE27-73509087949B}"/>
              </a:ext>
            </a:extLst>
          </p:cNvPr>
          <p:cNvCxnSpPr>
            <a:cxnSpLocks/>
          </p:cNvCxnSpPr>
          <p:nvPr/>
        </p:nvCxnSpPr>
        <p:spPr>
          <a:xfrm>
            <a:off x="9719717" y="2622659"/>
            <a:ext cx="402166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C6E95C21-C05F-0DA3-B862-691E8572E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1883" y="1662280"/>
            <a:ext cx="188515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编辑或新建正则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正则转换规则使用标准的 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JavaScript 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正则表达式 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除非特别规定，</a:t>
            </a:r>
            <a:r>
              <a:rPr kumimoji="0" lang="ja-JP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默认开启 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g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模式替换所有匹配项。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过于复杂的正则可能因为处理超时而导致失败。请尽量使用简单的，最低限度的正则。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703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21824C-7B02-6D71-5E14-1A3CF35CB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958" y="857252"/>
            <a:ext cx="4766698" cy="5520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1EA24-071E-09D2-F4C7-4C6EA5031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19" y="436014"/>
            <a:ext cx="2375162" cy="3471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57142F-6116-AEBF-39C7-EBB8476A47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6161"/>
          <a:stretch>
            <a:fillRect/>
          </a:stretch>
        </p:blipFill>
        <p:spPr>
          <a:xfrm>
            <a:off x="222119" y="857252"/>
            <a:ext cx="980148" cy="486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5B49C2-FA26-56E4-6057-BACCFAA2C6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690"/>
          <a:stretch>
            <a:fillRect/>
          </a:stretch>
        </p:blipFill>
        <p:spPr>
          <a:xfrm>
            <a:off x="1354667" y="857252"/>
            <a:ext cx="2571566" cy="4868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B6FA67-3105-0945-45B3-37CD158BD8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292"/>
          <a:stretch>
            <a:fillRect/>
          </a:stretch>
        </p:blipFill>
        <p:spPr>
          <a:xfrm>
            <a:off x="222119" y="857252"/>
            <a:ext cx="1183348" cy="486830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B395C0A-AF1D-F15A-64C1-F16F03DE2A2F}"/>
              </a:ext>
            </a:extLst>
          </p:cNvPr>
          <p:cNvCxnSpPr>
            <a:cxnSpLocks/>
            <a:stCxn id="14" idx="0"/>
            <a:endCxn id="13" idx="1"/>
          </p:cNvCxnSpPr>
          <p:nvPr/>
        </p:nvCxnSpPr>
        <p:spPr>
          <a:xfrm rot="5400000" flipH="1" flipV="1">
            <a:off x="1729210" y="386960"/>
            <a:ext cx="371270" cy="827706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A96C7F-F508-770E-B2BC-37F59D546689}"/>
              </a:ext>
            </a:extLst>
          </p:cNvPr>
          <p:cNvSpPr/>
          <p:nvPr/>
        </p:nvSpPr>
        <p:spPr>
          <a:xfrm>
            <a:off x="2328698" y="522075"/>
            <a:ext cx="164403" cy="186205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8080F2-879A-6969-C793-1CF230BE39BC}"/>
              </a:ext>
            </a:extLst>
          </p:cNvPr>
          <p:cNvSpPr/>
          <p:nvPr/>
        </p:nvSpPr>
        <p:spPr>
          <a:xfrm>
            <a:off x="1393316" y="986448"/>
            <a:ext cx="215351" cy="186205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6D077038-46B1-509A-C1C2-0A5423D95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028" y="1324972"/>
            <a:ext cx="30747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地图入口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通过仪表盘，或世界地图点、地图元素表等处的地图图标进入地图模块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A0FDC8-BB54-9856-D1D7-5ED95B02CE30}"/>
              </a:ext>
            </a:extLst>
          </p:cNvPr>
          <p:cNvCxnSpPr>
            <a:cxnSpLocks/>
          </p:cNvCxnSpPr>
          <p:nvPr/>
        </p:nvCxnSpPr>
        <p:spPr>
          <a:xfrm flipV="1">
            <a:off x="6240007" y="783186"/>
            <a:ext cx="0" cy="188385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7F9A1E-7C9B-8301-51D2-58E909043B83}"/>
              </a:ext>
            </a:extLst>
          </p:cNvPr>
          <p:cNvCxnSpPr>
            <a:cxnSpLocks/>
          </p:cNvCxnSpPr>
          <p:nvPr/>
        </p:nvCxnSpPr>
        <p:spPr>
          <a:xfrm>
            <a:off x="1500991" y="1172653"/>
            <a:ext cx="0" cy="29210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">
            <a:extLst>
              <a:ext uri="{FF2B5EF4-FFF2-40B4-BE49-F238E27FC236}">
                <a16:creationId xmlns:a16="http://schemas.microsoft.com/office/drawing/2014/main" id="{9A0673B4-6FD9-A007-8766-979431B77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361" y="126579"/>
            <a:ext cx="35192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切换次要地点标签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点击不同的标签来切换次要地点。此数据依赖于“世界地图点”与“地图元素”表的数据结构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7DF8C5EC-A6E8-5C74-DD6D-79BDF574E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416" y="5472937"/>
            <a:ext cx="290116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详细地点网格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显示当前选中的次要地点中的所有详细地点。示例中“监牢洋馆”被选中，其中包含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10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个详细地点。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BAD8E9C-7C92-E991-4146-81E415D50979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rot="16200000" flipH="1">
            <a:off x="5897633" y="2387275"/>
            <a:ext cx="1042775" cy="1669958"/>
          </a:xfrm>
          <a:prstGeom prst="bentConnector3">
            <a:avLst>
              <a:gd name="adj1" fmla="val 43504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2DD2616-B6C0-F459-5886-7BBCA64F47A5}"/>
              </a:ext>
            </a:extLst>
          </p:cNvPr>
          <p:cNvSpPr/>
          <p:nvPr/>
        </p:nvSpPr>
        <p:spPr>
          <a:xfrm>
            <a:off x="5029749" y="1492710"/>
            <a:ext cx="1108584" cy="1208157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3FCB35C-292D-36F4-A603-EAF3092E3BA7}"/>
              </a:ext>
            </a:extLst>
          </p:cNvPr>
          <p:cNvSpPr/>
          <p:nvPr/>
        </p:nvSpPr>
        <p:spPr>
          <a:xfrm>
            <a:off x="7116598" y="3743642"/>
            <a:ext cx="274802" cy="244158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E1D43075-15E1-E52C-1AD8-A8EAEF4DC4E8}"/>
              </a:ext>
            </a:extLst>
          </p:cNvPr>
          <p:cNvCxnSpPr>
            <a:cxnSpLocks/>
            <a:stCxn id="51" idx="3"/>
            <a:endCxn id="44" idx="1"/>
          </p:cNvCxnSpPr>
          <p:nvPr/>
        </p:nvCxnSpPr>
        <p:spPr>
          <a:xfrm flipV="1">
            <a:off x="3954445" y="2096789"/>
            <a:ext cx="1075304" cy="823955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">
            <a:extLst>
              <a:ext uri="{FF2B5EF4-FFF2-40B4-BE49-F238E27FC236}">
                <a16:creationId xmlns:a16="http://schemas.microsoft.com/office/drawing/2014/main" id="{E7BDA42D-8E28-77DC-561D-5771FE176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61" y="2474468"/>
            <a:ext cx="3722084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互动元素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显示当前选中的主要地点中的互动元素以及数量。互动元素包括位于此处的角色以及地图元素。点击人物头像或互动元素名，呼出对应的表格可视化卡片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8D369A9-C4AD-6082-8D60-3B91F7E4E1B6}"/>
              </a:ext>
            </a:extLst>
          </p:cNvPr>
          <p:cNvSpPr/>
          <p:nvPr/>
        </p:nvSpPr>
        <p:spPr>
          <a:xfrm>
            <a:off x="8173330" y="888631"/>
            <a:ext cx="344137" cy="381369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57B5CE5E-08AF-E364-9D15-59B2273EA7C5}"/>
              </a:ext>
            </a:extLst>
          </p:cNvPr>
          <p:cNvCxnSpPr>
            <a:cxnSpLocks/>
            <a:endCxn id="55" idx="2"/>
          </p:cNvCxnSpPr>
          <p:nvPr/>
        </p:nvCxnSpPr>
        <p:spPr>
          <a:xfrm rot="10800000">
            <a:off x="8345399" y="1270000"/>
            <a:ext cx="944982" cy="358178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1">
            <a:extLst>
              <a:ext uri="{FF2B5EF4-FFF2-40B4-BE49-F238E27FC236}">
                <a16:creationId xmlns:a16="http://schemas.microsoft.com/office/drawing/2014/main" id="{524D4D33-4C11-A773-3B78-2FBA7A9E9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0381" y="1417305"/>
            <a:ext cx="22539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回到当前位置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点击时返回主角的当前位置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03049DCD-34E4-9AB9-CDAA-6B17DC2E6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169" y="3020822"/>
            <a:ext cx="2838162" cy="1886177"/>
          </a:xfrm>
          <a:prstGeom prst="rect">
            <a:avLst/>
          </a:prstGeom>
        </p:spPr>
      </p:pic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80BE0594-3B66-F79F-3F67-F873E9AF8A89}"/>
              </a:ext>
            </a:extLst>
          </p:cNvPr>
          <p:cNvCxnSpPr>
            <a:cxnSpLocks/>
          </p:cNvCxnSpPr>
          <p:nvPr/>
        </p:nvCxnSpPr>
        <p:spPr>
          <a:xfrm rot="10800000">
            <a:off x="6896100" y="2063715"/>
            <a:ext cx="2336800" cy="578553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1">
            <a:extLst>
              <a:ext uri="{FF2B5EF4-FFF2-40B4-BE49-F238E27FC236}">
                <a16:creationId xmlns:a16="http://schemas.microsoft.com/office/drawing/2014/main" id="{BED7DD94-A454-E43C-338D-078DB4F6A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015" y="2186204"/>
            <a:ext cx="225391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当前详细地点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点击当前详细地点的图标来唤出对应的表格可视化卡片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A2411E2-F709-B5E9-3394-4FDA41CEE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028" y="3369735"/>
            <a:ext cx="2613071" cy="190495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5581728-F62E-12B7-EF14-15E8E50DF6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865" y="5274694"/>
            <a:ext cx="2637395" cy="160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87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306ACB-B2ED-B411-C269-B220D78F1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62" y="520718"/>
            <a:ext cx="3509407" cy="48767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B9E189-6029-7A6C-2DDE-6F3EC0A4E1DE}"/>
              </a:ext>
            </a:extLst>
          </p:cNvPr>
          <p:cNvSpPr/>
          <p:nvPr/>
        </p:nvSpPr>
        <p:spPr>
          <a:xfrm>
            <a:off x="2424187" y="2429204"/>
            <a:ext cx="1051380" cy="242030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7C522F8-0C97-7F67-51AA-E573A5F68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43" y="2429204"/>
            <a:ext cx="2079939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收藏卡片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你可以在表格面板中收藏任一卡片，实现跨聊天、跨角色卡的卡片收藏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5C1C0D-0863-1AB0-7289-85DAE4C2563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71700" y="2550219"/>
            <a:ext cx="252487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9D97395-8D2B-9657-2BF5-29BFD5A57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462" y="5487035"/>
            <a:ext cx="2531517" cy="1163524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B6D4383C-7D8A-ADA8-CD16-FB61B4890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57" y="5542793"/>
            <a:ext cx="112684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卡片标签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为收藏的卡片设置标签，便于搜索和过滤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BFF183-7739-C853-1065-BF23B89EE37B}"/>
              </a:ext>
            </a:extLst>
          </p:cNvPr>
          <p:cNvCxnSpPr>
            <a:cxnSpLocks/>
          </p:cNvCxnSpPr>
          <p:nvPr/>
        </p:nvCxnSpPr>
        <p:spPr>
          <a:xfrm flipH="1">
            <a:off x="1301762" y="5776019"/>
            <a:ext cx="252487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61893BDE-50F5-AAF8-329B-8E0DBE43B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76" y="520718"/>
            <a:ext cx="5031291" cy="2892002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A69A6429-03D5-7A75-188E-BBF617EAA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677093"/>
            <a:ext cx="20997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卡片标签过滤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开启或关闭特定标签的卡片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E61FCCF-B697-94F7-19F2-F7C19B0AEF1D}"/>
              </a:ext>
            </a:extLst>
          </p:cNvPr>
          <p:cNvCxnSpPr>
            <a:cxnSpLocks/>
            <a:stCxn id="24" idx="2"/>
            <a:endCxn id="36" idx="3"/>
          </p:cNvCxnSpPr>
          <p:nvPr/>
        </p:nvCxnSpPr>
        <p:spPr>
          <a:xfrm rot="5400000">
            <a:off x="6376472" y="552900"/>
            <a:ext cx="121983" cy="1416808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4EF15BF4-5750-F36C-D40F-3AB299E9F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76" y="3569095"/>
            <a:ext cx="3050098" cy="2659685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6C9F297-C2B0-CAD7-B0C0-774B9E1281BB}"/>
              </a:ext>
            </a:extLst>
          </p:cNvPr>
          <p:cNvSpPr/>
          <p:nvPr/>
        </p:nvSpPr>
        <p:spPr>
          <a:xfrm>
            <a:off x="5372098" y="1201281"/>
            <a:ext cx="356961" cy="242030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D10E365-A3D1-FF19-D529-E89F27F529AE}"/>
              </a:ext>
            </a:extLst>
          </p:cNvPr>
          <p:cNvSpPr/>
          <p:nvPr/>
        </p:nvSpPr>
        <p:spPr>
          <a:xfrm>
            <a:off x="6406864" y="2395081"/>
            <a:ext cx="844836" cy="242286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A06A5BA-817A-DF10-66C9-C497579F75EB}"/>
              </a:ext>
            </a:extLst>
          </p:cNvPr>
          <p:cNvCxnSpPr>
            <a:cxnSpLocks/>
            <a:stCxn id="43" idx="1"/>
            <a:endCxn id="38" idx="1"/>
          </p:cNvCxnSpPr>
          <p:nvPr/>
        </p:nvCxnSpPr>
        <p:spPr>
          <a:xfrm rot="10800000" flipH="1">
            <a:off x="5386082" y="2516224"/>
            <a:ext cx="1020781" cy="1800406"/>
          </a:xfrm>
          <a:prstGeom prst="bentConnector3">
            <a:avLst>
              <a:gd name="adj1" fmla="val -22395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E0E8222-D5C1-E58E-4711-AE96781CB1B1}"/>
              </a:ext>
            </a:extLst>
          </p:cNvPr>
          <p:cNvSpPr/>
          <p:nvPr/>
        </p:nvSpPr>
        <p:spPr>
          <a:xfrm>
            <a:off x="5386083" y="4167093"/>
            <a:ext cx="659117" cy="299073"/>
          </a:xfrm>
          <a:prstGeom prst="roundRect">
            <a:avLst>
              <a:gd name="adj" fmla="val 14678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48F6BCD-7518-A3EB-BA61-03E92B6E3A5D}"/>
              </a:ext>
            </a:extLst>
          </p:cNvPr>
          <p:cNvCxnSpPr>
            <a:cxnSpLocks/>
            <a:stCxn id="49" idx="1"/>
            <a:endCxn id="43" idx="3"/>
          </p:cNvCxnSpPr>
          <p:nvPr/>
        </p:nvCxnSpPr>
        <p:spPr>
          <a:xfrm rot="10800000">
            <a:off x="6045200" y="4316631"/>
            <a:ext cx="2678886" cy="267927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">
            <a:extLst>
              <a:ext uri="{FF2B5EF4-FFF2-40B4-BE49-F238E27FC236}">
                <a16:creationId xmlns:a16="http://schemas.microsoft.com/office/drawing/2014/main" id="{0B502083-866D-C841-38D7-784288E13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4086" y="4138281"/>
            <a:ext cx="241804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发送卡片到当前表格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将收藏的卡片发送到当前聊天的当前表格中。插件会智能推荐表格结构相似的目标表格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7495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BF783-479C-898F-66CA-31959CC0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F9F3DEF9-916C-2B99-AEA1-598FE2A32B0A}"/>
              </a:ext>
            </a:extLst>
          </p:cNvPr>
          <p:cNvSpPr/>
          <p:nvPr/>
        </p:nvSpPr>
        <p:spPr>
          <a:xfrm>
            <a:off x="0" y="0"/>
            <a:ext cx="12192000" cy="689751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860970-C0ED-ABD7-827A-07CA50EF9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09" y="2112486"/>
            <a:ext cx="5766342" cy="44750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11DF864-FFA9-5CB8-F451-26AB5D46F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758" y="3323851"/>
            <a:ext cx="1741725" cy="1871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691BE5-96BF-E9E3-CBCF-55CFF097A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731"/>
          <a:stretch>
            <a:fillRect/>
          </a:stretch>
        </p:blipFill>
        <p:spPr>
          <a:xfrm>
            <a:off x="412363" y="370396"/>
            <a:ext cx="722171" cy="3598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97E5C0-6D51-AF02-E6EA-D04CB5EDB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21"/>
          <a:stretch>
            <a:fillRect/>
          </a:stretch>
        </p:blipFill>
        <p:spPr>
          <a:xfrm>
            <a:off x="412363" y="730269"/>
            <a:ext cx="2502176" cy="4832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D0ACCD-A007-1E93-8F0E-6503B293E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63" t="-974" b="-1"/>
          <a:stretch>
            <a:fillRect/>
          </a:stretch>
        </p:blipFill>
        <p:spPr>
          <a:xfrm>
            <a:off x="1134534" y="370396"/>
            <a:ext cx="2161504" cy="36338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245A84-631A-54D0-52B2-BC76327D0EED}"/>
              </a:ext>
            </a:extLst>
          </p:cNvPr>
          <p:cNvSpPr/>
          <p:nvPr/>
        </p:nvSpPr>
        <p:spPr>
          <a:xfrm>
            <a:off x="1134534" y="384107"/>
            <a:ext cx="304799" cy="28193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3D56D9-2F80-4797-2A69-EB79786FEA09}"/>
              </a:ext>
            </a:extLst>
          </p:cNvPr>
          <p:cNvSpPr/>
          <p:nvPr/>
        </p:nvSpPr>
        <p:spPr>
          <a:xfrm>
            <a:off x="2393246" y="798002"/>
            <a:ext cx="214488" cy="20106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C814C07-A10D-C363-419E-83C9DE15BF75}"/>
              </a:ext>
            </a:extLst>
          </p:cNvPr>
          <p:cNvCxnSpPr>
            <a:cxnSpLocks/>
            <a:stCxn id="16" idx="1"/>
            <a:endCxn id="15" idx="2"/>
          </p:cNvCxnSpPr>
          <p:nvPr/>
        </p:nvCxnSpPr>
        <p:spPr>
          <a:xfrm rot="10800000">
            <a:off x="1286934" y="666045"/>
            <a:ext cx="1106312" cy="232491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">
            <a:extLst>
              <a:ext uri="{FF2B5EF4-FFF2-40B4-BE49-F238E27FC236}">
                <a16:creationId xmlns:a16="http://schemas.microsoft.com/office/drawing/2014/main" id="{64F5BDA2-4F9E-C839-12BD-74F1FEE88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56" y="1187948"/>
            <a:ext cx="188282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人物关系图入口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点击重要人物表右上角和仪表盘中间靠下的图标进入人物关系图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C7349C9F-798F-151F-85F7-697017E9F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56" y="2905766"/>
            <a:ext cx="1882822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人物关系图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重要人物表中出现的角色会显示在人际关系图中。悬停（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PC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）或长按（手机）角色，以高亮对应角色的关系。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关系字符通过读取重要人物表中的“人际关系”列数据渲染，请确保你的“重要人物表”中包含此数据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3A0FC87-5361-450C-FFE7-ECD02EFD3354}"/>
              </a:ext>
            </a:extLst>
          </p:cNvPr>
          <p:cNvSpPr/>
          <p:nvPr/>
        </p:nvSpPr>
        <p:spPr>
          <a:xfrm>
            <a:off x="2653892" y="798002"/>
            <a:ext cx="214488" cy="20106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69296D4-F15A-9C1E-3752-A686AFEF0ED5}"/>
              </a:ext>
            </a:extLst>
          </p:cNvPr>
          <p:cNvSpPr/>
          <p:nvPr/>
        </p:nvSpPr>
        <p:spPr>
          <a:xfrm>
            <a:off x="5605937" y="2203469"/>
            <a:ext cx="214488" cy="20106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24F7DA2-B1A4-2DCC-130B-D1840A908D8E}"/>
              </a:ext>
            </a:extLst>
          </p:cNvPr>
          <p:cNvCxnSpPr>
            <a:cxnSpLocks/>
            <a:stCxn id="32" idx="0"/>
            <a:endCxn id="31" idx="3"/>
          </p:cNvCxnSpPr>
          <p:nvPr/>
        </p:nvCxnSpPr>
        <p:spPr>
          <a:xfrm rot="16200000" flipV="1">
            <a:off x="3638314" y="128601"/>
            <a:ext cx="1304934" cy="2844801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7D1206-DB27-D7DF-A9A8-50E480A8E1FB}"/>
              </a:ext>
            </a:extLst>
          </p:cNvPr>
          <p:cNvCxnSpPr>
            <a:cxnSpLocks/>
          </p:cNvCxnSpPr>
          <p:nvPr/>
        </p:nvCxnSpPr>
        <p:spPr>
          <a:xfrm flipH="1">
            <a:off x="5713182" y="898534"/>
            <a:ext cx="553117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B352B0DD-A24D-2DED-1B9D-14AFD79452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168" y="810697"/>
            <a:ext cx="3750706" cy="3187676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FC3E95-7D87-E89F-2225-ACF8558D6911}"/>
              </a:ext>
            </a:extLst>
          </p:cNvPr>
          <p:cNvSpPr/>
          <p:nvPr/>
        </p:nvSpPr>
        <p:spPr>
          <a:xfrm>
            <a:off x="6497759" y="2304002"/>
            <a:ext cx="371530" cy="36582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11120B61-7283-81C0-39D5-E0958F612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1488" y="-17634"/>
            <a:ext cx="183666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头像管理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点击重要人物表或人物关系图右上角的图标进入头像管理页面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11BC8CED-3D3D-6FD3-EF88-9C71D4954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6289" y="5176734"/>
            <a:ext cx="183666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本地上传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点击空白的头像进行本地上传，在呼出的界面中进行调整，你可以在任何时候重新点击头像以调整位置或上传新头像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D150B1-5250-656E-FBA0-12953B2AA303}"/>
              </a:ext>
            </a:extLst>
          </p:cNvPr>
          <p:cNvCxnSpPr>
            <a:cxnSpLocks/>
            <a:stCxn id="38" idx="0"/>
            <a:endCxn id="47" idx="2"/>
          </p:cNvCxnSpPr>
          <p:nvPr/>
        </p:nvCxnSpPr>
        <p:spPr>
          <a:xfrm>
            <a:off x="11144621" y="5176734"/>
            <a:ext cx="0" cy="18458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1">
            <a:extLst>
              <a:ext uri="{FF2B5EF4-FFF2-40B4-BE49-F238E27FC236}">
                <a16:creationId xmlns:a16="http://schemas.microsoft.com/office/drawing/2014/main" id="{BE61FD68-B109-1FF5-BAF4-B579F4F49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155" y="4115463"/>
            <a:ext cx="183666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设置别名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你可以为角色设置不同的别名，所有隶属于同一个角色的别名在人物关系图中会合并为一个，并共享唯一头像。别名之间需要用英文逗号隔开，例：“祥子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,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祥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,</a:t>
            </a:r>
            <a:r>
              <a:rPr kumimoji="0" lang="en-US" altLang="zh-CN" sz="1200" dirty="0" err="1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saki,sakiko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”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D90F1F-D6B6-0DB3-5B7F-C030B7A1895C}"/>
              </a:ext>
            </a:extLst>
          </p:cNvPr>
          <p:cNvCxnSpPr>
            <a:cxnSpLocks/>
          </p:cNvCxnSpPr>
          <p:nvPr/>
        </p:nvCxnSpPr>
        <p:spPr>
          <a:xfrm>
            <a:off x="7097635" y="3937014"/>
            <a:ext cx="0" cy="184819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075FA93-79B3-E066-9805-17EFDA7F9527}"/>
              </a:ext>
            </a:extLst>
          </p:cNvPr>
          <p:cNvCxnSpPr>
            <a:cxnSpLocks/>
          </p:cNvCxnSpPr>
          <p:nvPr/>
        </p:nvCxnSpPr>
        <p:spPr>
          <a:xfrm>
            <a:off x="9100001" y="3690457"/>
            <a:ext cx="0" cy="1050876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1">
            <a:extLst>
              <a:ext uri="{FF2B5EF4-FFF2-40B4-BE49-F238E27FC236}">
                <a16:creationId xmlns:a16="http://schemas.microsoft.com/office/drawing/2014/main" id="{D844C6E8-AC8B-3EAF-B7AD-869E1331B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669" y="4689864"/>
            <a:ext cx="183666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设置</a:t>
            </a:r>
            <a:r>
              <a:rPr kumimoji="0" lang="en-US" altLang="zh-CN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URL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你可以输入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URL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来作为你的角色头像。点击对号以完成一次设定。网图同样支持头像调整功能，并且可以作为配置在用户间共享。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ACAFD4A-788E-2FF0-F369-114BAB81D617}"/>
              </a:ext>
            </a:extLst>
          </p:cNvPr>
          <p:cNvSpPr/>
          <p:nvPr/>
        </p:nvSpPr>
        <p:spPr>
          <a:xfrm>
            <a:off x="9424923" y="3178404"/>
            <a:ext cx="256710" cy="25058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366B5E93-DB82-D8BF-E590-706E7B1BE298}"/>
              </a:ext>
            </a:extLst>
          </p:cNvPr>
          <p:cNvCxnSpPr>
            <a:cxnSpLocks/>
            <a:endCxn id="69" idx="2"/>
          </p:cNvCxnSpPr>
          <p:nvPr/>
        </p:nvCxnSpPr>
        <p:spPr>
          <a:xfrm rot="5400000" flipH="1" flipV="1">
            <a:off x="8905629" y="3623364"/>
            <a:ext cx="842021" cy="453277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1">
            <a:extLst>
              <a:ext uri="{FF2B5EF4-FFF2-40B4-BE49-F238E27FC236}">
                <a16:creationId xmlns:a16="http://schemas.microsoft.com/office/drawing/2014/main" id="{1AE49660-08DC-0FCC-F006-579D217D7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6591" y="-30862"/>
            <a:ext cx="183666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导入</a:t>
            </a:r>
            <a:r>
              <a:rPr kumimoji="0" lang="en-US" altLang="zh-CN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/</a:t>
            </a: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导出配置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你可以导入导出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URL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与别名设定，在用户之间共享。支持智能合并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BDA07271-54C7-45BE-11DE-D9F58C717085}"/>
              </a:ext>
            </a:extLst>
          </p:cNvPr>
          <p:cNvCxnSpPr>
            <a:cxnSpLocks/>
            <a:stCxn id="41" idx="3"/>
            <a:endCxn id="47" idx="0"/>
          </p:cNvCxnSpPr>
          <p:nvPr/>
        </p:nvCxnSpPr>
        <p:spPr>
          <a:xfrm>
            <a:off x="6869289" y="2486912"/>
            <a:ext cx="4275332" cy="836939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FCD1F32-0015-0214-39A6-F08DFAA6B99F}"/>
              </a:ext>
            </a:extLst>
          </p:cNvPr>
          <p:cNvSpPr/>
          <p:nvPr/>
        </p:nvSpPr>
        <p:spPr>
          <a:xfrm>
            <a:off x="9135810" y="873774"/>
            <a:ext cx="553117" cy="26455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EC211750-BC24-82FE-2C32-E33ED8D9F1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743" y="335744"/>
            <a:ext cx="1989260" cy="2027118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201B31-B84D-818F-902F-F6AC7543CCBC}"/>
              </a:ext>
            </a:extLst>
          </p:cNvPr>
          <p:cNvCxnSpPr>
            <a:cxnSpLocks/>
          </p:cNvCxnSpPr>
          <p:nvPr/>
        </p:nvCxnSpPr>
        <p:spPr>
          <a:xfrm flipH="1" flipV="1">
            <a:off x="9681633" y="999068"/>
            <a:ext cx="498065" cy="8638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">
            <a:extLst>
              <a:ext uri="{FF2B5EF4-FFF2-40B4-BE49-F238E27FC236}">
                <a16:creationId xmlns:a16="http://schemas.microsoft.com/office/drawing/2014/main" id="{467EA7FA-A0B3-069E-051D-1A4004579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2219" y="1311071"/>
            <a:ext cx="12433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清空设定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点击废纸篓以清空设定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FE3B582-B31E-E270-97C0-4F250569802C}"/>
              </a:ext>
            </a:extLst>
          </p:cNvPr>
          <p:cNvCxnSpPr>
            <a:cxnSpLocks/>
          </p:cNvCxnSpPr>
          <p:nvPr/>
        </p:nvCxnSpPr>
        <p:spPr>
          <a:xfrm flipH="1">
            <a:off x="9326639" y="1551001"/>
            <a:ext cx="362288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3C6A2DB-A2A1-A37A-C03E-283C75BD8854}"/>
              </a:ext>
            </a:extLst>
          </p:cNvPr>
          <p:cNvSpPr/>
          <p:nvPr/>
        </p:nvSpPr>
        <p:spPr>
          <a:xfrm>
            <a:off x="6571143" y="3489391"/>
            <a:ext cx="207547" cy="154213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92" name="Rectangle 1">
            <a:extLst>
              <a:ext uri="{FF2B5EF4-FFF2-40B4-BE49-F238E27FC236}">
                <a16:creationId xmlns:a16="http://schemas.microsoft.com/office/drawing/2014/main" id="{A3AF1FC8-BE32-E306-6AB7-26D5D83E1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70" y="3178404"/>
            <a:ext cx="183666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显示头像来源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显示你的头像来源。优先级：本地上传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&gt;URL&gt;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酒馆笑脸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D66F4F3-A268-43FB-91E3-1BD84A6F0C8D}"/>
              </a:ext>
            </a:extLst>
          </p:cNvPr>
          <p:cNvCxnSpPr>
            <a:cxnSpLocks/>
          </p:cNvCxnSpPr>
          <p:nvPr/>
        </p:nvCxnSpPr>
        <p:spPr>
          <a:xfrm flipH="1">
            <a:off x="6151284" y="3566497"/>
            <a:ext cx="411182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05410C85-D779-F197-0412-1FEA6003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597" y="5170740"/>
            <a:ext cx="18366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在场符号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当前在场角色的左上角会显示小圆点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A84144-2078-312C-DAC7-2189E63BEAB2}"/>
              </a:ext>
            </a:extLst>
          </p:cNvPr>
          <p:cNvCxnSpPr>
            <a:cxnSpLocks/>
          </p:cNvCxnSpPr>
          <p:nvPr/>
        </p:nvCxnSpPr>
        <p:spPr>
          <a:xfrm flipH="1">
            <a:off x="4356100" y="5490817"/>
            <a:ext cx="182033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273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F262-CCDE-3DC5-CBEF-39140F23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9EE35E0F-571A-6E76-B464-A5E95F6E4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461" y="1112690"/>
            <a:ext cx="7090781" cy="414863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1EFFEA-5A67-F244-6033-BFFF6274D448}"/>
              </a:ext>
            </a:extLst>
          </p:cNvPr>
          <p:cNvSpPr/>
          <p:nvPr/>
        </p:nvSpPr>
        <p:spPr>
          <a:xfrm>
            <a:off x="7788109" y="1171970"/>
            <a:ext cx="326177" cy="35770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039BCA8-CC4C-6CDD-E108-6CF5A5780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0601" y="537670"/>
            <a:ext cx="213177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数据验证模式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通过审核面板右上角的过滤器图标来进入数据验证模式。数据验证模式下审核面板仅显示违反特定规则的条目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AC76536-C776-8CE3-74BC-DC1ABE50D87E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186489" y="309763"/>
            <a:ext cx="2764709" cy="862207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5D1153C-95F4-C81B-12FE-61938CF25F87}"/>
              </a:ext>
            </a:extLst>
          </p:cNvPr>
          <p:cNvCxnSpPr>
            <a:cxnSpLocks/>
            <a:stCxn id="32" idx="0"/>
            <a:endCxn id="6" idx="0"/>
          </p:cNvCxnSpPr>
          <p:nvPr/>
        </p:nvCxnSpPr>
        <p:spPr>
          <a:xfrm rot="5400000" flipH="1" flipV="1">
            <a:off x="3414302" y="-600217"/>
            <a:ext cx="634300" cy="2910074"/>
          </a:xfrm>
          <a:prstGeom prst="bentConnector3">
            <a:avLst>
              <a:gd name="adj1" fmla="val 13604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3A00440-FBBC-0551-6C46-985CA53E3524}"/>
              </a:ext>
            </a:extLst>
          </p:cNvPr>
          <p:cNvSpPr/>
          <p:nvPr/>
        </p:nvSpPr>
        <p:spPr>
          <a:xfrm>
            <a:off x="1848743" y="1171970"/>
            <a:ext cx="855344" cy="35770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6" name="Rectangle 1">
            <a:extLst>
              <a:ext uri="{FF2B5EF4-FFF2-40B4-BE49-F238E27FC236}">
                <a16:creationId xmlns:a16="http://schemas.microsoft.com/office/drawing/2014/main" id="{F125F064-46B3-552A-5A33-9AFF86CE2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986" y="1998933"/>
            <a:ext cx="2131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违反规则显示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在此显示违反的具体规则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E8A5750-6B3B-A627-64BF-4C02B2DAB699}"/>
              </a:ext>
            </a:extLst>
          </p:cNvPr>
          <p:cNvSpPr/>
          <p:nvPr/>
        </p:nvSpPr>
        <p:spPr>
          <a:xfrm>
            <a:off x="5142277" y="2569999"/>
            <a:ext cx="2396276" cy="30374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B3C8F4-07D1-7DE6-88EF-281F4DE2FD17}"/>
              </a:ext>
            </a:extLst>
          </p:cNvPr>
          <p:cNvSpPr/>
          <p:nvPr/>
        </p:nvSpPr>
        <p:spPr>
          <a:xfrm>
            <a:off x="5142277" y="3444807"/>
            <a:ext cx="2396276" cy="30374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B2B028-62F6-9C84-1DE9-90FCE16CB664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6340415" y="2873741"/>
            <a:ext cx="0" cy="54291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4131E21-EEE2-AF00-D065-49EF62A882D0}"/>
              </a:ext>
            </a:extLst>
          </p:cNvPr>
          <p:cNvCxnSpPr>
            <a:cxnSpLocks/>
          </p:cNvCxnSpPr>
          <p:nvPr/>
        </p:nvCxnSpPr>
        <p:spPr>
          <a:xfrm flipH="1">
            <a:off x="1631244" y="2706819"/>
            <a:ext cx="270932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25F227B-9079-98C9-2C32-78FAE7E3DC43}"/>
              </a:ext>
            </a:extLst>
          </p:cNvPr>
          <p:cNvSpPr/>
          <p:nvPr/>
        </p:nvSpPr>
        <p:spPr>
          <a:xfrm>
            <a:off x="3406609" y="4105641"/>
            <a:ext cx="986578" cy="35136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4566EDC6-05B2-34B4-0BDA-E0D423E08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5070" y="5397471"/>
            <a:ext cx="22506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非法数据计数</a:t>
            </a:r>
            <a:endParaRPr kumimoji="0" lang="en-US" altLang="zh-CN" sz="12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显示违反数据规则的数据总条数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4F9E28F-6305-B086-D0EA-CD790C3413CD}"/>
              </a:ext>
            </a:extLst>
          </p:cNvPr>
          <p:cNvCxnSpPr>
            <a:cxnSpLocks/>
          </p:cNvCxnSpPr>
          <p:nvPr/>
        </p:nvCxnSpPr>
        <p:spPr>
          <a:xfrm>
            <a:off x="8730562" y="2669578"/>
            <a:ext cx="303751" cy="482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1">
            <a:extLst>
              <a:ext uri="{FF2B5EF4-FFF2-40B4-BE49-F238E27FC236}">
                <a16:creationId xmlns:a16="http://schemas.microsoft.com/office/drawing/2014/main" id="{BDAFBED7-043E-FA65-AD63-107AA714E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489" y="5397471"/>
            <a:ext cx="2250691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回滚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点击旋转箭头以回滚到上一轮的值。注意！数据验证模式仅判断值是否符合规则，如果回滚的值是错误的，那么仍然会显示警告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1DA919C8-CADE-4E26-E91C-80F78B4F4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565" y="3007656"/>
            <a:ext cx="2721830" cy="2743758"/>
          </a:xfrm>
          <a:prstGeom prst="rect">
            <a:avLst/>
          </a:prstGeom>
        </p:spPr>
      </p:pic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751DE988-4840-36C5-C8C9-70F92B2BBC5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437180" y="3748550"/>
            <a:ext cx="813209" cy="2279863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E59CAA5-D1FB-E575-84CA-1346C05CDDEF}"/>
              </a:ext>
            </a:extLst>
          </p:cNvPr>
          <p:cNvCxnSpPr>
            <a:cxnSpLocks/>
          </p:cNvCxnSpPr>
          <p:nvPr/>
        </p:nvCxnSpPr>
        <p:spPr>
          <a:xfrm flipV="1">
            <a:off x="3899898" y="4457007"/>
            <a:ext cx="0" cy="863599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">
            <a:extLst>
              <a:ext uri="{FF2B5EF4-FFF2-40B4-BE49-F238E27FC236}">
                <a16:creationId xmlns:a16="http://schemas.microsoft.com/office/drawing/2014/main" id="{E1937C0B-FADD-A578-4F54-3B79D4FDC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4313" y="2075877"/>
            <a:ext cx="225069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智能修改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修改功能支持手动修改与智能修改，智能修改会根据规则提供可能正确的修改选择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29E0D49-B308-3047-22A7-7646D44B3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3" y="2130969"/>
            <a:ext cx="184874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非法数据详情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显示非法数据详情。格式为表名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.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列名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.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数据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例：主角信息，所在地点，前往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088086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514F4-1196-ED17-5A68-A95E05A94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99619935-63CA-D719-116C-7CBBD2944F80}"/>
              </a:ext>
            </a:extLst>
          </p:cNvPr>
          <p:cNvSpPr/>
          <p:nvPr/>
        </p:nvSpPr>
        <p:spPr>
          <a:xfrm>
            <a:off x="0" y="0"/>
            <a:ext cx="12192000" cy="689751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ED7FE01F-2256-DE02-546C-701CC4648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609" y="927118"/>
            <a:ext cx="7090781" cy="500376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9D6AE2-5351-CF80-4022-023E3E69A358}"/>
              </a:ext>
            </a:extLst>
          </p:cNvPr>
          <p:cNvCxnSpPr>
            <a:cxnSpLocks/>
          </p:cNvCxnSpPr>
          <p:nvPr/>
        </p:nvCxnSpPr>
        <p:spPr>
          <a:xfrm flipH="1" flipV="1">
            <a:off x="3369733" y="3114325"/>
            <a:ext cx="536134" cy="239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">
            <a:extLst>
              <a:ext uri="{FF2B5EF4-FFF2-40B4-BE49-F238E27FC236}">
                <a16:creationId xmlns:a16="http://schemas.microsoft.com/office/drawing/2014/main" id="{3DE64A0A-C8AE-A442-6B90-273AFBD0D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24" y="2490513"/>
            <a:ext cx="188176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投骰界面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入口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点击骰子图标发起普通检定，系统自动读取检定名称与数值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5CCDDFB-579A-06D5-EA0E-CBEAF8D45361}"/>
              </a:ext>
            </a:extLst>
          </p:cNvPr>
          <p:cNvCxnSpPr>
            <a:cxnSpLocks/>
            <a:stCxn id="49" idx="0"/>
            <a:endCxn id="32" idx="1"/>
          </p:cNvCxnSpPr>
          <p:nvPr/>
        </p:nvCxnSpPr>
        <p:spPr>
          <a:xfrm rot="16200000" flipV="1">
            <a:off x="4470381" y="590671"/>
            <a:ext cx="1544630" cy="1299479"/>
          </a:xfrm>
          <a:prstGeom prst="bentConnector4">
            <a:avLst>
              <a:gd name="adj1" fmla="val 37048"/>
              <a:gd name="adj2" fmla="val 117592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">
            <a:extLst>
              <a:ext uri="{FF2B5EF4-FFF2-40B4-BE49-F238E27FC236}">
                <a16:creationId xmlns:a16="http://schemas.microsoft.com/office/drawing/2014/main" id="{4C39A8DE-99E7-289C-6A66-7D285A603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956" y="67986"/>
            <a:ext cx="289991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移动快捷指令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点击图标快速发送</a:t>
            </a:r>
            <a:r>
              <a:rPr kumimoji="0" lang="en-US" altLang="zh-CN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`&lt;user&gt;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前往</a:t>
            </a:r>
            <a:r>
              <a:rPr kumimoji="0" lang="en-US" altLang="zh-CN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LIVE [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地点</a:t>
            </a:r>
            <a:r>
              <a:rPr kumimoji="0" lang="en-US" altLang="zh-CN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]`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命令到输入栏。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6896FC7-0EFE-3418-F0E8-2DC416030703}"/>
              </a:ext>
            </a:extLst>
          </p:cNvPr>
          <p:cNvCxnSpPr>
            <a:cxnSpLocks/>
            <a:endCxn id="85" idx="3"/>
          </p:cNvCxnSpPr>
          <p:nvPr/>
        </p:nvCxnSpPr>
        <p:spPr>
          <a:xfrm flipH="1">
            <a:off x="9212933" y="2124875"/>
            <a:ext cx="476917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658547-D4F1-039C-B038-0B94E257FADE}"/>
              </a:ext>
            </a:extLst>
          </p:cNvPr>
          <p:cNvSpPr/>
          <p:nvPr/>
        </p:nvSpPr>
        <p:spPr>
          <a:xfrm>
            <a:off x="3185652" y="2438176"/>
            <a:ext cx="184081" cy="796091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B9359A-6416-5258-6A16-47CB086A1AAB}"/>
              </a:ext>
            </a:extLst>
          </p:cNvPr>
          <p:cNvSpPr/>
          <p:nvPr/>
        </p:nvSpPr>
        <p:spPr>
          <a:xfrm>
            <a:off x="3798779" y="2437030"/>
            <a:ext cx="184081" cy="49431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A856C5-D267-A4D9-C526-B9947F3FCE60}"/>
              </a:ext>
            </a:extLst>
          </p:cNvPr>
          <p:cNvSpPr/>
          <p:nvPr/>
        </p:nvSpPr>
        <p:spPr>
          <a:xfrm>
            <a:off x="4411906" y="2427266"/>
            <a:ext cx="184081" cy="49431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689F41-BD00-7D4C-A4A6-B9DC5E83F919}"/>
              </a:ext>
            </a:extLst>
          </p:cNvPr>
          <p:cNvSpPr/>
          <p:nvPr/>
        </p:nvSpPr>
        <p:spPr>
          <a:xfrm>
            <a:off x="3451064" y="3538533"/>
            <a:ext cx="205026" cy="2308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932611-88F9-7F87-909E-BB9931FF5208}"/>
              </a:ext>
            </a:extLst>
          </p:cNvPr>
          <p:cNvCxnSpPr>
            <a:cxnSpLocks/>
          </p:cNvCxnSpPr>
          <p:nvPr/>
        </p:nvCxnSpPr>
        <p:spPr>
          <a:xfrm>
            <a:off x="3890819" y="2931340"/>
            <a:ext cx="0" cy="722606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D43F977-5FCA-59CE-FFF3-53D0F550BDC0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3734415" y="2884414"/>
            <a:ext cx="732370" cy="806694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A3BF8F-71B6-A2F6-3864-F1BE4809E1A5}"/>
              </a:ext>
            </a:extLst>
          </p:cNvPr>
          <p:cNvSpPr/>
          <p:nvPr/>
        </p:nvSpPr>
        <p:spPr>
          <a:xfrm>
            <a:off x="3564274" y="2086947"/>
            <a:ext cx="205026" cy="23082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D39BABF8-87C1-0046-9F63-1679B457DB69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4028333" y="1951651"/>
            <a:ext cx="232359" cy="718871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515807C-72C1-5FC3-C733-F356BA3ACEB0}"/>
              </a:ext>
            </a:extLst>
          </p:cNvPr>
          <p:cNvSpPr/>
          <p:nvPr/>
        </p:nvSpPr>
        <p:spPr>
          <a:xfrm>
            <a:off x="5800394" y="2012726"/>
            <a:ext cx="184081" cy="98870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45844B0-707F-2C47-1019-8F00A1BD5AD7}"/>
              </a:ext>
            </a:extLst>
          </p:cNvPr>
          <p:cNvSpPr/>
          <p:nvPr/>
        </p:nvSpPr>
        <p:spPr>
          <a:xfrm>
            <a:off x="6931278" y="2002141"/>
            <a:ext cx="184081" cy="98870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A07CBB-257C-3C2B-FFE4-79889F60FB81}"/>
              </a:ext>
            </a:extLst>
          </p:cNvPr>
          <p:cNvCxnSpPr>
            <a:cxnSpLocks/>
          </p:cNvCxnSpPr>
          <p:nvPr/>
        </p:nvCxnSpPr>
        <p:spPr>
          <a:xfrm flipH="1" flipV="1">
            <a:off x="5989703" y="2864968"/>
            <a:ext cx="942569" cy="6046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96DE7A5-5A47-FE30-59E2-0C6B67F2BBF4}"/>
              </a:ext>
            </a:extLst>
          </p:cNvPr>
          <p:cNvGrpSpPr/>
          <p:nvPr/>
        </p:nvGrpSpPr>
        <p:grpSpPr>
          <a:xfrm>
            <a:off x="5794302" y="3290398"/>
            <a:ext cx="1333373" cy="999291"/>
            <a:chOff x="5794302" y="3250888"/>
            <a:chExt cx="1333373" cy="999291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392F005-9F52-3A6D-8535-EC802FB30B11}"/>
                </a:ext>
              </a:extLst>
            </p:cNvPr>
            <p:cNvSpPr/>
            <p:nvPr/>
          </p:nvSpPr>
          <p:spPr>
            <a:xfrm>
              <a:off x="5794302" y="3261473"/>
              <a:ext cx="202489" cy="988706"/>
            </a:xfrm>
            <a:prstGeom prst="round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Noto Sans SC" panose="020B0200000000000000" pitchFamily="50" charset="-128"/>
                <a:ea typeface="Noto Sans SC" panose="020B0200000000000000" pitchFamily="50" charset="-128"/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9F25ABB8-BF2D-5A02-628A-32443BB6B074}"/>
                </a:ext>
              </a:extLst>
            </p:cNvPr>
            <p:cNvSpPr/>
            <p:nvPr/>
          </p:nvSpPr>
          <p:spPr>
            <a:xfrm>
              <a:off x="6925186" y="3250888"/>
              <a:ext cx="202489" cy="647415"/>
            </a:xfrm>
            <a:prstGeom prst="round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Noto Sans SC" panose="020B0200000000000000" pitchFamily="50" charset="-128"/>
                <a:ea typeface="Noto Sans SC" panose="020B0200000000000000" pitchFamily="50" charset="-128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A97F4C2-3BE0-7661-21EC-38ABA1170961}"/>
                </a:ext>
              </a:extLst>
            </p:cNvPr>
            <p:cNvCxnSpPr>
              <a:cxnSpLocks/>
              <a:stCxn id="66" idx="1"/>
            </p:cNvCxnSpPr>
            <p:nvPr/>
          </p:nvCxnSpPr>
          <p:spPr>
            <a:xfrm flipH="1">
              <a:off x="5996791" y="3574596"/>
              <a:ext cx="928395" cy="6046"/>
            </a:xfrm>
            <a:prstGeom prst="line">
              <a:avLst/>
            </a:prstGeom>
            <a:ln w="25400">
              <a:solidFill>
                <a:schemeClr val="bg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1">
            <a:extLst>
              <a:ext uri="{FF2B5EF4-FFF2-40B4-BE49-F238E27FC236}">
                <a16:creationId xmlns:a16="http://schemas.microsoft.com/office/drawing/2014/main" id="{523CFBEB-74AC-778C-2116-DC956AA83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5641" y="4164669"/>
            <a:ext cx="18817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对抗检定快速入口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点击图标快速发起与该角色的对抗或交互检定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FFB8BCE-DE52-5A27-DF12-E7171A2E8786}"/>
              </a:ext>
            </a:extLst>
          </p:cNvPr>
          <p:cNvCxnSpPr>
            <a:cxnSpLocks/>
            <a:stCxn id="66" idx="2"/>
            <a:endCxn id="71" idx="0"/>
          </p:cNvCxnSpPr>
          <p:nvPr/>
        </p:nvCxnSpPr>
        <p:spPr>
          <a:xfrm>
            <a:off x="7026431" y="3937813"/>
            <a:ext cx="91" cy="226856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1">
            <a:extLst>
              <a:ext uri="{FF2B5EF4-FFF2-40B4-BE49-F238E27FC236}">
                <a16:creationId xmlns:a16="http://schemas.microsoft.com/office/drawing/2014/main" id="{4412A436-0AF8-1E11-57B2-925D7082B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922" y="1634130"/>
            <a:ext cx="206879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高亮主角位置</a:t>
            </a:r>
            <a:endParaRPr kumimoji="0" lang="en-US" altLang="zh-CN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C208E583-FAF5-DF88-E4EC-25B2CCFD3045}"/>
              </a:ext>
            </a:extLst>
          </p:cNvPr>
          <p:cNvSpPr/>
          <p:nvPr/>
        </p:nvSpPr>
        <p:spPr>
          <a:xfrm>
            <a:off x="6160511" y="2317774"/>
            <a:ext cx="697489" cy="390397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6B78FA3-65C1-ED03-BD95-19D9E5518E57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509256" y="1903307"/>
            <a:ext cx="0" cy="414467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1">
            <a:extLst>
              <a:ext uri="{FF2B5EF4-FFF2-40B4-BE49-F238E27FC236}">
                <a16:creationId xmlns:a16="http://schemas.microsoft.com/office/drawing/2014/main" id="{A8BF91AD-DB1F-9C88-7394-97F3D6847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1861" y="1802908"/>
            <a:ext cx="245263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物品使用快捷指令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点击图标快速发送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`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&lt;user&gt;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使用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 [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物品</a:t>
            </a:r>
            <a:r>
              <a:rPr kumimoji="0" lang="en-US" altLang="zh-CN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]`</a:t>
            </a: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命令到输入栏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087BFD9-D4D7-1248-C15B-9F239C6F5A83}"/>
              </a:ext>
            </a:extLst>
          </p:cNvPr>
          <p:cNvSpPr/>
          <p:nvPr/>
        </p:nvSpPr>
        <p:spPr>
          <a:xfrm>
            <a:off x="8056935" y="2012768"/>
            <a:ext cx="218228" cy="551719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62F00EE-3679-9188-C0F6-ABCD7578AAD0}"/>
              </a:ext>
            </a:extLst>
          </p:cNvPr>
          <p:cNvSpPr/>
          <p:nvPr/>
        </p:nvSpPr>
        <p:spPr>
          <a:xfrm>
            <a:off x="8994705" y="1967982"/>
            <a:ext cx="218228" cy="31378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BC416864-2E4A-87A6-9DD6-C384C7B0C4E6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8275165" y="2281768"/>
            <a:ext cx="828654" cy="155262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81042DD-F12A-23E5-0A46-C07D10B12781}"/>
              </a:ext>
            </a:extLst>
          </p:cNvPr>
          <p:cNvSpPr/>
          <p:nvPr/>
        </p:nvSpPr>
        <p:spPr>
          <a:xfrm>
            <a:off x="6656680" y="3052407"/>
            <a:ext cx="537011" cy="191487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AC896B02-D984-D134-D99B-E03865F825C2}"/>
              </a:ext>
            </a:extLst>
          </p:cNvPr>
          <p:cNvCxnSpPr>
            <a:cxnSpLocks/>
            <a:stCxn id="96" idx="3"/>
            <a:endCxn id="102" idx="1"/>
          </p:cNvCxnSpPr>
          <p:nvPr/>
        </p:nvCxnSpPr>
        <p:spPr>
          <a:xfrm>
            <a:off x="7193691" y="3148151"/>
            <a:ext cx="963624" cy="918877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">
            <a:extLst>
              <a:ext uri="{FF2B5EF4-FFF2-40B4-BE49-F238E27FC236}">
                <a16:creationId xmlns:a16="http://schemas.microsoft.com/office/drawing/2014/main" id="{50BF27B3-71C0-B674-BDBA-566E00A63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7315" y="3713085"/>
            <a:ext cx="18817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关系图与管理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打开人物关系图及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角色头像管理界面</a:t>
            </a:r>
            <a:endParaRPr kumimoji="0" lang="ja-JP" altLang="ja-JP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13B1199-E0AE-1C3F-A134-26BF33E6CC09}"/>
              </a:ext>
            </a:extLst>
          </p:cNvPr>
          <p:cNvSpPr/>
          <p:nvPr/>
        </p:nvSpPr>
        <p:spPr>
          <a:xfrm>
            <a:off x="7786396" y="5436868"/>
            <a:ext cx="1707502" cy="392432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8F5DF3D-453B-F3AB-B170-DF7BAD04B67F}"/>
              </a:ext>
            </a:extLst>
          </p:cNvPr>
          <p:cNvCxnSpPr>
            <a:cxnSpLocks/>
          </p:cNvCxnSpPr>
          <p:nvPr/>
        </p:nvCxnSpPr>
        <p:spPr>
          <a:xfrm flipV="1">
            <a:off x="8621486" y="5829300"/>
            <a:ext cx="0" cy="293251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">
            <a:extLst>
              <a:ext uri="{FF2B5EF4-FFF2-40B4-BE49-F238E27FC236}">
                <a16:creationId xmlns:a16="http://schemas.microsoft.com/office/drawing/2014/main" id="{E2E987A1-C434-91A0-4A38-C045D7335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348" y="6147577"/>
            <a:ext cx="22402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前端功能快捷键</a:t>
            </a:r>
            <a:endParaRPr kumimoji="0" lang="en-US" altLang="zh-CN" sz="1600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2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保存、回退修改、收起面板、可视化编辑界面、设置</a:t>
            </a:r>
            <a:endParaRPr kumimoji="0" lang="en-US" altLang="zh-CN" sz="1200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16" name="Rectangle 1">
            <a:extLst>
              <a:ext uri="{FF2B5EF4-FFF2-40B4-BE49-F238E27FC236}">
                <a16:creationId xmlns:a16="http://schemas.microsoft.com/office/drawing/2014/main" id="{2D874BE5-BA15-AEE0-AD33-DBCA8EFB6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0545" y="175707"/>
            <a:ext cx="28999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调节面板高度</a:t>
            </a:r>
            <a:endParaRPr kumimoji="0" lang="en-US" altLang="zh-CN" b="1" dirty="0">
              <a:solidFill>
                <a:schemeClr val="bg1"/>
              </a:solidFill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上下拖拽以调整面板高度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6A004CE-E56A-9FD2-639F-92E185F9C08A}"/>
              </a:ext>
            </a:extLst>
          </p:cNvPr>
          <p:cNvSpPr/>
          <p:nvPr/>
        </p:nvSpPr>
        <p:spPr>
          <a:xfrm>
            <a:off x="8879967" y="995115"/>
            <a:ext cx="218228" cy="313786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F6F1D21-B1EA-C10F-8A38-EE82468F5E2D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8989081" y="723122"/>
            <a:ext cx="0" cy="271993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86F06F8-F93C-EACE-2843-24A1D179DA10}"/>
              </a:ext>
            </a:extLst>
          </p:cNvPr>
          <p:cNvCxnSpPr>
            <a:cxnSpLocks/>
          </p:cNvCxnSpPr>
          <p:nvPr/>
        </p:nvCxnSpPr>
        <p:spPr>
          <a:xfrm flipV="1">
            <a:off x="2294755" y="2899721"/>
            <a:ext cx="890897" cy="5584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ECDF6B-E238-A7EE-0B55-FE568842A660}"/>
              </a:ext>
            </a:extLst>
          </p:cNvPr>
          <p:cNvSpPr/>
          <p:nvPr/>
        </p:nvSpPr>
        <p:spPr>
          <a:xfrm>
            <a:off x="3513172" y="4773830"/>
            <a:ext cx="610095" cy="32559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CC58B84-89DD-2488-BAF6-47F7A772CE8B}"/>
              </a:ext>
            </a:extLst>
          </p:cNvPr>
          <p:cNvCxnSpPr>
            <a:cxnSpLocks/>
            <a:stCxn id="13" idx="2"/>
            <a:endCxn id="2" idx="0"/>
          </p:cNvCxnSpPr>
          <p:nvPr/>
        </p:nvCxnSpPr>
        <p:spPr>
          <a:xfrm rot="16200000" flipH="1">
            <a:off x="3183663" y="4139273"/>
            <a:ext cx="1004470" cy="264643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344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AC300BB-93E9-097C-E3D2-22CAA2B9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785" y="179930"/>
            <a:ext cx="4353963" cy="2919401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1FFE5C8-B603-3325-99D5-F3D2DC8F9615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3565915" y="763662"/>
            <a:ext cx="406717" cy="369332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714CB7-F92F-2655-834A-1A4B49DA15B2}"/>
              </a:ext>
            </a:extLst>
          </p:cNvPr>
          <p:cNvSpPr/>
          <p:nvPr/>
        </p:nvSpPr>
        <p:spPr>
          <a:xfrm>
            <a:off x="2210414" y="630680"/>
            <a:ext cx="1355501" cy="265964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CCD487-5CA6-049D-101D-603000E3E3CD}"/>
              </a:ext>
            </a:extLst>
          </p:cNvPr>
          <p:cNvSpPr/>
          <p:nvPr/>
        </p:nvSpPr>
        <p:spPr>
          <a:xfrm>
            <a:off x="3972632" y="1021941"/>
            <a:ext cx="699549" cy="22210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15C408B2-BC53-FA8D-0834-3C9165A98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954" y="407531"/>
            <a:ext cx="28999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①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下载最新版压缩包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并解压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391CBF-6411-2072-775E-0FC3AF06E1D3}"/>
              </a:ext>
            </a:extLst>
          </p:cNvPr>
          <p:cNvGrpSpPr/>
          <p:nvPr/>
        </p:nvGrpSpPr>
        <p:grpSpPr>
          <a:xfrm>
            <a:off x="1733055" y="3261124"/>
            <a:ext cx="2036218" cy="1879101"/>
            <a:chOff x="154537" y="4000118"/>
            <a:chExt cx="2036218" cy="18791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1C5E45D-094D-0E27-D723-84C6B4778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7846"/>
            <a:stretch>
              <a:fillRect/>
            </a:stretch>
          </p:blipFill>
          <p:spPr>
            <a:xfrm>
              <a:off x="154537" y="4000118"/>
              <a:ext cx="2036218" cy="1879101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CDDC235-B229-3655-C87E-12EBE66C829E}"/>
                </a:ext>
              </a:extLst>
            </p:cNvPr>
            <p:cNvSpPr/>
            <p:nvPr/>
          </p:nvSpPr>
          <p:spPr>
            <a:xfrm>
              <a:off x="603166" y="4939668"/>
              <a:ext cx="1138960" cy="265964"/>
            </a:xfrm>
            <a:prstGeom prst="round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Noto Sans SC" panose="020B0200000000000000" pitchFamily="50" charset="-128"/>
                <a:ea typeface="Noto Sans SC" panose="020B0200000000000000" pitchFamily="50" charset="-128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5728801-74FB-6920-779F-3F7D55900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898" y="3232312"/>
            <a:ext cx="1797861" cy="358758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3A3A38-E4D0-44C1-4FF6-46A1EEA71216}"/>
              </a:ext>
            </a:extLst>
          </p:cNvPr>
          <p:cNvSpPr/>
          <p:nvPr/>
        </p:nvSpPr>
        <p:spPr>
          <a:xfrm>
            <a:off x="4006499" y="5458475"/>
            <a:ext cx="569481" cy="228509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A4FB871-8E2A-9665-20D6-DBFDD86D2918}"/>
              </a:ext>
            </a:extLst>
          </p:cNvPr>
          <p:cNvCxnSpPr>
            <a:cxnSpLocks/>
            <a:stCxn id="19" idx="2"/>
            <a:endCxn id="5" idx="0"/>
          </p:cNvCxnSpPr>
          <p:nvPr/>
        </p:nvCxnSpPr>
        <p:spPr>
          <a:xfrm rot="5400000">
            <a:off x="2058472" y="1936739"/>
            <a:ext cx="2956628" cy="1571243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68FF68D-61AC-0C5C-F0C7-0F2FB63BA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3655" y="5067372"/>
            <a:ext cx="28999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②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打开数据管理界面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2793458-A3DD-FD51-93E8-5E8819BA4E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64" y="168322"/>
            <a:ext cx="3470075" cy="3565146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8DA6170-C141-DCBE-2826-081BB199D03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27387" y="4390415"/>
            <a:ext cx="1102890" cy="1255335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6EF2DAF-9F38-2C4D-A027-3FDB1BEA3C28}"/>
              </a:ext>
            </a:extLst>
          </p:cNvPr>
          <p:cNvSpPr/>
          <p:nvPr/>
        </p:nvSpPr>
        <p:spPr>
          <a:xfrm>
            <a:off x="6589475" y="2950238"/>
            <a:ext cx="1031304" cy="22075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48AE292-5E3C-FD79-BBF5-F0F68BC6B095}"/>
              </a:ext>
            </a:extLst>
          </p:cNvPr>
          <p:cNvCxnSpPr>
            <a:cxnSpLocks/>
            <a:stCxn id="12" idx="3"/>
            <a:endCxn id="27" idx="1"/>
          </p:cNvCxnSpPr>
          <p:nvPr/>
        </p:nvCxnSpPr>
        <p:spPr>
          <a:xfrm flipV="1">
            <a:off x="4575980" y="3060617"/>
            <a:ext cx="2013495" cy="2512113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">
            <a:extLst>
              <a:ext uri="{FF2B5EF4-FFF2-40B4-BE49-F238E27FC236}">
                <a16:creationId xmlns:a16="http://schemas.microsoft.com/office/drawing/2014/main" id="{615989FE-BEDC-024A-D8CD-B74D91CFB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002" y="3144043"/>
            <a:ext cx="28999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③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删除当前数据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C5A7AE2-3912-4F2D-4ECD-BD581DE8271C}"/>
              </a:ext>
            </a:extLst>
          </p:cNvPr>
          <p:cNvCxnSpPr>
            <a:cxnSpLocks/>
            <a:stCxn id="27" idx="0"/>
            <a:endCxn id="36" idx="1"/>
          </p:cNvCxnSpPr>
          <p:nvPr/>
        </p:nvCxnSpPr>
        <p:spPr>
          <a:xfrm rot="5400000" flipH="1" flipV="1">
            <a:off x="6559146" y="1853395"/>
            <a:ext cx="1642825" cy="550862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D24BD5D-C9B9-14CE-3FF3-ED603A752791}"/>
              </a:ext>
            </a:extLst>
          </p:cNvPr>
          <p:cNvSpPr/>
          <p:nvPr/>
        </p:nvSpPr>
        <p:spPr>
          <a:xfrm>
            <a:off x="7655989" y="1183038"/>
            <a:ext cx="625423" cy="24875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38" name="Rectangle 1">
            <a:extLst>
              <a:ext uri="{FF2B5EF4-FFF2-40B4-BE49-F238E27FC236}">
                <a16:creationId xmlns:a16="http://schemas.microsoft.com/office/drawing/2014/main" id="{355B3801-5323-1BB0-0853-DD5D4DED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475" y="727366"/>
            <a:ext cx="39716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sz="1600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④</a:t>
            </a:r>
            <a:r>
              <a:rPr kumimoji="0" lang="zh-CN" altLang="en-US" sz="1600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导入压缩包中的表格模板</a:t>
            </a:r>
            <a:r>
              <a:rPr kumimoji="0" lang="en-US" altLang="zh-CN" sz="1600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.</a:t>
            </a:r>
            <a:r>
              <a:rPr kumimoji="0" lang="en-US" altLang="zh-CN" sz="1600" b="1" dirty="0" err="1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json</a:t>
            </a:r>
            <a:endParaRPr kumimoji="0" lang="en-US" altLang="zh-CN" sz="1600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78509A9-56FA-7FD7-00AE-FA06BEE3663A}"/>
              </a:ext>
            </a:extLst>
          </p:cNvPr>
          <p:cNvSpPr/>
          <p:nvPr/>
        </p:nvSpPr>
        <p:spPr>
          <a:xfrm>
            <a:off x="8637842" y="1479537"/>
            <a:ext cx="826473" cy="26896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D9109BA-21D2-4A78-D637-301677694C79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8281412" y="1307413"/>
            <a:ext cx="356430" cy="306608"/>
          </a:xfrm>
          <a:prstGeom prst="bentConnector3">
            <a:avLst>
              <a:gd name="adj1" fmla="val 50000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35679561-FB7D-37F6-C17F-D34F71A06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2133" y="1763180"/>
            <a:ext cx="30359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⑤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点击模板覆盖最新数据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1C0787E-F8D6-8982-6686-49254DC3E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033" y="3843847"/>
            <a:ext cx="2899911" cy="3004727"/>
          </a:xfrm>
          <a:prstGeom prst="rect">
            <a:avLst/>
          </a:prstGeom>
        </p:spPr>
      </p:pic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58E9A51-6693-A25E-58B0-A3F587541B34}"/>
              </a:ext>
            </a:extLst>
          </p:cNvPr>
          <p:cNvCxnSpPr>
            <a:cxnSpLocks/>
            <a:stCxn id="39" idx="3"/>
            <a:endCxn id="58" idx="3"/>
          </p:cNvCxnSpPr>
          <p:nvPr/>
        </p:nvCxnSpPr>
        <p:spPr>
          <a:xfrm flipH="1">
            <a:off x="8281412" y="1614021"/>
            <a:ext cx="1182903" cy="3071020"/>
          </a:xfrm>
          <a:prstGeom prst="bentConnector3">
            <a:avLst>
              <a:gd name="adj1" fmla="val -19325"/>
            </a:avLst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3B57F1C-BD7B-4F1D-88AC-835916F02407}"/>
              </a:ext>
            </a:extLst>
          </p:cNvPr>
          <p:cNvSpPr/>
          <p:nvPr/>
        </p:nvSpPr>
        <p:spPr>
          <a:xfrm>
            <a:off x="6741875" y="3102638"/>
            <a:ext cx="1031304" cy="220757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382F3C2-83A4-B45E-D97B-286EA2098DFA}"/>
              </a:ext>
            </a:extLst>
          </p:cNvPr>
          <p:cNvSpPr/>
          <p:nvPr/>
        </p:nvSpPr>
        <p:spPr>
          <a:xfrm>
            <a:off x="7730846" y="4565248"/>
            <a:ext cx="550566" cy="239585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60" name="Rectangle 1">
            <a:extLst>
              <a:ext uri="{FF2B5EF4-FFF2-40B4-BE49-F238E27FC236}">
                <a16:creationId xmlns:a16="http://schemas.microsoft.com/office/drawing/2014/main" id="{0D1C1CA2-7F80-922B-A1DA-2ED2B7DB9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5957" y="3895549"/>
            <a:ext cx="35545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⑥酒馆助手中导入骰子系统</a:t>
            </a:r>
            <a:r>
              <a:rPr kumimoji="0" lang="en-US" altLang="zh-CN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.json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0D786415-134D-D9F2-0CBE-71AD8F95809A}"/>
              </a:ext>
            </a:extLst>
          </p:cNvPr>
          <p:cNvCxnSpPr>
            <a:cxnSpLocks/>
            <a:stCxn id="58" idx="2"/>
          </p:cNvCxnSpPr>
          <p:nvPr/>
        </p:nvCxnSpPr>
        <p:spPr>
          <a:xfrm rot="16200000" flipH="1">
            <a:off x="8827003" y="3983959"/>
            <a:ext cx="447205" cy="2088952"/>
          </a:xfrm>
          <a:prstGeom prst="bentConnector2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1">
            <a:extLst>
              <a:ext uri="{FF2B5EF4-FFF2-40B4-BE49-F238E27FC236}">
                <a16:creationId xmlns:a16="http://schemas.microsoft.com/office/drawing/2014/main" id="{0450DC47-5D2F-3C48-660C-BE29397B0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5082" y="5067372"/>
            <a:ext cx="35545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⑦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刷新酒馆页面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3712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4099-E1EB-DD04-628D-C8802B8A4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3BDC78C6-40DF-680E-0328-B65909E4ABD6}"/>
              </a:ext>
            </a:extLst>
          </p:cNvPr>
          <p:cNvSpPr/>
          <p:nvPr/>
        </p:nvSpPr>
        <p:spPr>
          <a:xfrm>
            <a:off x="0" y="15776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E33B8B-C7AF-30A2-39C8-6C781E3B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609" y="927118"/>
            <a:ext cx="7090781" cy="500376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0EAAC5B-8BA0-5051-CB25-4477FE3FB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61" y="1881817"/>
            <a:ext cx="188176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主角核心面板</a:t>
            </a:r>
            <a:endParaRPr kumimoji="0" lang="en-US" altLang="ja-JP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主角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状态、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资源、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六维基础属性及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特别属性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。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94F329-EB66-8800-C80E-0D3BBDFFCB98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257022" y="2389648"/>
            <a:ext cx="504839" cy="1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F896BCE-8C25-32F6-D8CC-92B7347DAF19}"/>
              </a:ext>
            </a:extLst>
          </p:cNvPr>
          <p:cNvCxnSpPr>
            <a:cxnSpLocks/>
            <a:endCxn id="15" idx="0"/>
          </p:cNvCxnSpPr>
          <p:nvPr/>
        </p:nvCxnSpPr>
        <p:spPr>
          <a:xfrm rot="10800000" flipV="1">
            <a:off x="1022555" y="3395525"/>
            <a:ext cx="1692654" cy="434980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">
            <a:extLst>
              <a:ext uri="{FF2B5EF4-FFF2-40B4-BE49-F238E27FC236}">
                <a16:creationId xmlns:a16="http://schemas.microsoft.com/office/drawing/2014/main" id="{A171DB7F-9853-2835-D151-41EC5C35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74" y="3830505"/>
            <a:ext cx="18817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主角技能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</a:t>
            </a: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主角的技能，技能熟练度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1AC4AD-A487-C3FE-EA43-3FE065F1899F}"/>
              </a:ext>
            </a:extLst>
          </p:cNvPr>
          <p:cNvSpPr/>
          <p:nvPr/>
        </p:nvSpPr>
        <p:spPr>
          <a:xfrm>
            <a:off x="2563945" y="4630724"/>
            <a:ext cx="7018593" cy="1301620"/>
          </a:xfrm>
          <a:prstGeom prst="round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83B0C9BD-407D-F368-20C9-B558144DC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274" y="6149725"/>
            <a:ext cx="50179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全局导航栏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系统功能切换中枢，点击跳转至掷骰、地图、人物等详细页面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C47490-F81E-919F-63F0-37D1CDCBD9D0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6073241" y="5932344"/>
            <a:ext cx="1" cy="217381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">
            <a:extLst>
              <a:ext uri="{FF2B5EF4-FFF2-40B4-BE49-F238E27FC236}">
                <a16:creationId xmlns:a16="http://schemas.microsoft.com/office/drawing/2014/main" id="{D689155A-6326-B791-BE06-A266BB158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593" y="96123"/>
            <a:ext cx="18817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当前视图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显示目前的模块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54CAF4F-AF03-BE43-A316-BA620C8F1AB8}"/>
              </a:ext>
            </a:extLst>
          </p:cNvPr>
          <p:cNvCxnSpPr>
            <a:cxnSpLocks/>
            <a:endCxn id="26" idx="2"/>
          </p:cNvCxnSpPr>
          <p:nvPr/>
        </p:nvCxnSpPr>
        <p:spPr>
          <a:xfrm rot="10800000">
            <a:off x="1901475" y="680898"/>
            <a:ext cx="607971" cy="514760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">
            <a:extLst>
              <a:ext uri="{FF2B5EF4-FFF2-40B4-BE49-F238E27FC236}">
                <a16:creationId xmlns:a16="http://schemas.microsoft.com/office/drawing/2014/main" id="{9FF3B085-6021-21E0-7CF8-AC8206C80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2298" y="15776"/>
            <a:ext cx="18817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区域地图信息</a:t>
            </a:r>
            <a:endParaRPr kumimoji="0" lang="en-US" altLang="zh-CN" b="1" dirty="0">
              <a:solidFill>
                <a:schemeClr val="bg1"/>
              </a:solidFill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显示当前地图中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可互动的地点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A83B9F7-D22C-823B-06C6-9AEC31CD6078}"/>
              </a:ext>
            </a:extLst>
          </p:cNvPr>
          <p:cNvCxnSpPr>
            <a:cxnSpLocks/>
            <a:endCxn id="32" idx="1"/>
          </p:cNvCxnSpPr>
          <p:nvPr/>
        </p:nvCxnSpPr>
        <p:spPr>
          <a:xfrm rot="5400000" flipH="1" flipV="1">
            <a:off x="4832015" y="878993"/>
            <a:ext cx="1313390" cy="387176"/>
          </a:xfrm>
          <a:prstGeom prst="bentConnector2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">
            <a:extLst>
              <a:ext uri="{FF2B5EF4-FFF2-40B4-BE49-F238E27FC236}">
                <a16:creationId xmlns:a16="http://schemas.microsoft.com/office/drawing/2014/main" id="{1D8BF982-6DE8-5686-1FE1-73F3354AF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5083" y="1712731"/>
            <a:ext cx="18817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持有物品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背包内的道具及数量概览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94A287A-C4B8-8E76-6DFD-01D06D1EA931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9388970" y="2112841"/>
            <a:ext cx="406113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">
            <a:extLst>
              <a:ext uri="{FF2B5EF4-FFF2-40B4-BE49-F238E27FC236}">
                <a16:creationId xmlns:a16="http://schemas.microsoft.com/office/drawing/2014/main" id="{F391CF5A-7C2F-128B-DB9A-8F6268226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5082" y="2714216"/>
            <a:ext cx="18817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当前装备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显示主角目前穿戴的装备及品质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339B214-8E27-AEC6-DDB6-4A3D0C960A7E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9388970" y="3114326"/>
            <a:ext cx="406112" cy="0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A2B4C97-7BAD-006A-C86C-FBAF150D70B3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8635482" y="3830505"/>
            <a:ext cx="1252097" cy="404676"/>
          </a:xfrm>
          <a:prstGeom prst="bentConnector3">
            <a:avLst>
              <a:gd name="adj1" fmla="val 444"/>
            </a:avLst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1">
            <a:extLst>
              <a:ext uri="{FF2B5EF4-FFF2-40B4-BE49-F238E27FC236}">
                <a16:creationId xmlns:a16="http://schemas.microsoft.com/office/drawing/2014/main" id="{7FB864A1-BF26-F40B-7731-83F1B3723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7579" y="3942793"/>
            <a:ext cx="20687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进行中的任务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显示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" panose="020B0200000000000000" pitchFamily="50" charset="-128"/>
                <a:ea typeface="Noto Sans SC" panose="020B0200000000000000" pitchFamily="50" charset="-128"/>
              </a:rPr>
              <a:t>当前任务与进度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87F7A3-5515-0A17-CC57-53B4BE98C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303" y="2985772"/>
            <a:ext cx="18817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oto Sans SC Black" panose="020B0200000000000000" pitchFamily="50" charset="-128"/>
                <a:ea typeface="Noto Sans SC Black" panose="020B0200000000000000" pitchFamily="50" charset="-128"/>
              </a:rPr>
              <a:t>主</a:t>
            </a:r>
            <a:r>
              <a:rPr kumimoji="0" lang="zh-CN" altLang="en-US" b="1" dirty="0">
                <a:solidFill>
                  <a:schemeClr val="bg1"/>
                </a:solidFill>
                <a:latin typeface="Noto Sans SC Black" panose="020B0200000000000000" pitchFamily="50" charset="-128"/>
                <a:ea typeface="Noto Sans SC Black" panose="020B0200000000000000" pitchFamily="50" charset="-128"/>
              </a:rPr>
              <a:t>要角色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 Black" panose="020B0200000000000000" pitchFamily="50" charset="-128"/>
              <a:ea typeface="Noto Sans SC Black" panose="020B0200000000000000" pitchFamily="50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400" dirty="0">
                <a:solidFill>
                  <a:schemeClr val="bg1"/>
                </a:solidFill>
                <a:latin typeface="Noto Sans SC" panose="020B0200000000000000" pitchFamily="50" charset="-128"/>
                <a:ea typeface="Noto Sans SC" panose="020B0200000000000000" pitchFamily="50" charset="-128"/>
              </a:rPr>
              <a:t>高亮显示在场角色</a:t>
            </a: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oto Sans SC" panose="020B0200000000000000" pitchFamily="50" charset="-128"/>
              <a:ea typeface="Noto Sans SC" panose="020B0200000000000000" pitchFamily="50" charset="-128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63B6F6-4D5D-614C-7899-D015B9D6CA78}"/>
              </a:ext>
            </a:extLst>
          </p:cNvPr>
          <p:cNvCxnSpPr>
            <a:cxnSpLocks/>
          </p:cNvCxnSpPr>
          <p:nvPr/>
        </p:nvCxnSpPr>
        <p:spPr>
          <a:xfrm flipV="1">
            <a:off x="5743206" y="3180000"/>
            <a:ext cx="124194" cy="1"/>
          </a:xfrm>
          <a:prstGeom prst="line">
            <a:avLst/>
          </a:prstGeom>
          <a:ln w="25400"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23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5764</Words>
  <Application>Microsoft Office PowerPoint</Application>
  <PresentationFormat>Widescreen</PresentationFormat>
  <Paragraphs>325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Noto Sans SC</vt:lpstr>
      <vt:lpstr>Noto Sans SC Black</vt:lpstr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xiaotong ye</cp:lastModifiedBy>
  <cp:revision>260</cp:revision>
  <cp:lastPrinted>2026-01-07T06:46:20Z</cp:lastPrinted>
  <dcterms:created xsi:type="dcterms:W3CDTF">2026-01-06T17:27:51Z</dcterms:created>
  <dcterms:modified xsi:type="dcterms:W3CDTF">2026-01-29T04:41:02Z</dcterms:modified>
</cp:coreProperties>
</file>